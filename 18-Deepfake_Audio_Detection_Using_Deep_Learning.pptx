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  <p:sldMasterId id="2147483686" r:id="rId4"/>
  </p:sldMasterIdLst>
  <p:notesMasterIdLst>
    <p:notesMasterId r:id="rId52"/>
  </p:notesMasterIdLst>
  <p:handoutMasterIdLst>
    <p:handoutMasterId r:id="rId53"/>
  </p:handoutMasterIdLst>
  <p:sldIdLst>
    <p:sldId id="257" r:id="rId5"/>
    <p:sldId id="300" r:id="rId6"/>
    <p:sldId id="294" r:id="rId7"/>
    <p:sldId id="293" r:id="rId8"/>
    <p:sldId id="295" r:id="rId9"/>
    <p:sldId id="280" r:id="rId10"/>
    <p:sldId id="331" r:id="rId11"/>
    <p:sldId id="296" r:id="rId12"/>
    <p:sldId id="281" r:id="rId13"/>
    <p:sldId id="299" r:id="rId14"/>
    <p:sldId id="282" r:id="rId15"/>
    <p:sldId id="312" r:id="rId16"/>
    <p:sldId id="322" r:id="rId17"/>
    <p:sldId id="297" r:id="rId18"/>
    <p:sldId id="298" r:id="rId19"/>
    <p:sldId id="288" r:id="rId20"/>
    <p:sldId id="289" r:id="rId21"/>
    <p:sldId id="290" r:id="rId22"/>
    <p:sldId id="291" r:id="rId23"/>
    <p:sldId id="301" r:id="rId24"/>
    <p:sldId id="292" r:id="rId25"/>
    <p:sldId id="314" r:id="rId26"/>
    <p:sldId id="327" r:id="rId27"/>
    <p:sldId id="328" r:id="rId28"/>
    <p:sldId id="313" r:id="rId29"/>
    <p:sldId id="302" r:id="rId30"/>
    <p:sldId id="316" r:id="rId31"/>
    <p:sldId id="307" r:id="rId32"/>
    <p:sldId id="329" r:id="rId33"/>
    <p:sldId id="330" r:id="rId34"/>
    <p:sldId id="317" r:id="rId35"/>
    <p:sldId id="325" r:id="rId36"/>
    <p:sldId id="326" r:id="rId37"/>
    <p:sldId id="303" r:id="rId38"/>
    <p:sldId id="308" r:id="rId39"/>
    <p:sldId id="323" r:id="rId40"/>
    <p:sldId id="318" r:id="rId41"/>
    <p:sldId id="319" r:id="rId42"/>
    <p:sldId id="304" r:id="rId43"/>
    <p:sldId id="309" r:id="rId44"/>
    <p:sldId id="320" r:id="rId45"/>
    <p:sldId id="321" r:id="rId46"/>
    <p:sldId id="305" r:id="rId47"/>
    <p:sldId id="310" r:id="rId48"/>
    <p:sldId id="306" r:id="rId49"/>
    <p:sldId id="287" r:id="rId50"/>
    <p:sldId id="311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9B4A9DD-DC24-482D-A59E-A2C3AD5E3795}">
          <p14:sldIdLst>
            <p14:sldId id="257"/>
          </p14:sldIdLst>
        </p14:section>
        <p14:section name="Untitled Section" id="{6DC5493C-A44C-4592-A7BB-7C7A3A3B0B1C}">
          <p14:sldIdLst>
            <p14:sldId id="300"/>
            <p14:sldId id="294"/>
            <p14:sldId id="293"/>
            <p14:sldId id="295"/>
            <p14:sldId id="280"/>
            <p14:sldId id="331"/>
            <p14:sldId id="296"/>
            <p14:sldId id="281"/>
            <p14:sldId id="299"/>
            <p14:sldId id="282"/>
            <p14:sldId id="312"/>
            <p14:sldId id="322"/>
            <p14:sldId id="297"/>
            <p14:sldId id="298"/>
            <p14:sldId id="288"/>
            <p14:sldId id="289"/>
            <p14:sldId id="290"/>
            <p14:sldId id="291"/>
            <p14:sldId id="301"/>
            <p14:sldId id="292"/>
            <p14:sldId id="314"/>
            <p14:sldId id="327"/>
            <p14:sldId id="328"/>
            <p14:sldId id="313"/>
            <p14:sldId id="302"/>
            <p14:sldId id="316"/>
            <p14:sldId id="307"/>
            <p14:sldId id="329"/>
            <p14:sldId id="330"/>
            <p14:sldId id="317"/>
            <p14:sldId id="325"/>
            <p14:sldId id="326"/>
            <p14:sldId id="303"/>
            <p14:sldId id="308"/>
            <p14:sldId id="323"/>
            <p14:sldId id="318"/>
            <p14:sldId id="319"/>
            <p14:sldId id="304"/>
            <p14:sldId id="309"/>
            <p14:sldId id="320"/>
            <p14:sldId id="321"/>
            <p14:sldId id="305"/>
            <p14:sldId id="310"/>
            <p14:sldId id="306"/>
            <p14:sldId id="287"/>
            <p14:sldId id="31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2" pos="23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8E01"/>
    <a:srgbClr val="000000"/>
    <a:srgbClr val="585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howGuides="1">
      <p:cViewPr varScale="1">
        <p:scale>
          <a:sx n="73" d="100"/>
          <a:sy n="73" d="100"/>
        </p:scale>
        <p:origin x="498" y="72"/>
      </p:cViewPr>
      <p:guideLst>
        <p:guide orient="horz" pos="1049"/>
        <p:guide pos="23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Futura Cyrillic Book" panose="020B0502020204020303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>
                <a:latin typeface="Futura Cyrillic Book" panose="020B0502020204020303" charset="0"/>
              </a:rPr>
              <a:pPr/>
              <a:t>11/21/2025</a:t>
            </a:fld>
            <a:endParaRPr lang="en-US">
              <a:latin typeface="Futura Cyrillic Book" panose="020B0502020204020303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Futura Cyrillic Book" panose="020B0502020204020303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>
                <a:latin typeface="Futura Cyrillic Book" panose="020B0502020204020303" charset="0"/>
              </a:rPr>
              <a:pPr/>
              <a:t>‹#›</a:t>
            </a:fld>
            <a:endParaRPr lang="en-US">
              <a:latin typeface="Futura Cyrillic Book" panose="020B050202020402030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413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utura Cyrillic Book" panose="020B0502020204020303" charset="0"/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utura Cyrillic Book" panose="020B0502020204020303" charset="0"/>
              </a:defRPr>
            </a:lvl1pPr>
          </a:lstStyle>
          <a:p>
            <a:fld id="{0ECD8AD1-49EC-45F2-A2FF-1FE3195688C5}" type="datetimeFigureOut">
              <a:rPr lang="en-IN" smtClean="0"/>
              <a:pPr/>
              <a:t>21-11-2025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utura Cyrillic Book" panose="020B0502020204020303" charset="0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utura Cyrillic Book" panose="020B0502020204020303" charset="0"/>
              </a:defRPr>
            </a:lvl1pPr>
          </a:lstStyle>
          <a:p>
            <a:fld id="{7782813F-5D25-4BB6-888C-4601F85758C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13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120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E7E3568-023C-52E3-E094-5B3497A5A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8AF29AE0-573D-C434-D4E5-800B7512D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1262A07-51CF-E608-F5C0-E26826CEF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E6657DB-0717-466E-1579-6F5EE6440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200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8811BF8-F47D-7443-EF88-5F1037AAB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8D2C3DAE-1049-8A4A-8B10-D10AA2725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5DD3864-D9D7-AD6C-D1DC-70DD429ED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82F3E00-A417-AD31-9D71-FC3213AD7D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684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B4D55AD-FA9E-1EE6-0FE0-3745BBDDE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64FE054-3E5F-6176-D61C-172BAB5E3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65E5590-2B15-2CCA-E8AA-86428F386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69B8F67-CD48-A76A-0CCE-A1D28D6E39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35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52282FF-6370-86D4-146A-46D78EE02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72774EC-8A2E-6C60-660A-BF4F090D8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4E6DBB3-3A1C-A0E0-279F-6CB6EC8AF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DEC71DD-3263-3BEC-1E25-2138A178EC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91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EF74C6-0A7C-9311-B91B-AB3E23381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F17EC23-AB53-39F3-0D5E-6F22FF04D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896C841-F5F4-41C5-BEDE-5AC9B57C9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A563EB6-5A5D-A0CF-BEBA-75BC1A4038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760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EF74C6-0A7C-9311-B91B-AB3E23381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F17EC23-AB53-39F3-0D5E-6F22FF04D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896C841-F5F4-41C5-BEDE-5AC9B57C9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A563EB6-5A5D-A0CF-BEBA-75BC1A4038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029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B13F3B4-12D2-D137-6E9B-95C149EE4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4A96D06-64A7-2C46-4637-B75A3D3A7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56810D9D-4C09-2C66-BC28-E8F1ABA83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D60AD19-C96C-F253-94C2-76E59DF0DD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522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C7449D6-8ADE-1728-6CED-799E75679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9F84F22-5ECA-5162-7F37-108447AFC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6015219-E9AD-DF89-4B2E-4DCD53019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5301A07-64F4-0682-9C47-F92AC4AB7A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4062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02CDBEC-0EF9-BD11-D009-103917911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812323E-91BF-E325-E213-2C64F70514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C327EB3-03FC-E6BF-5081-CF61E8F64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735B130-972E-F553-A86C-497DCAD80E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8124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907347-BD56-D098-1D9B-CC5E523D5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752399A-6369-CA64-5B53-E55DA0EAE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DAEAF72-C26B-9342-5076-696F8BC3E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9868E03-37E0-BD14-50BF-40D4FA693E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052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E0EC521-94DB-67DC-D90A-537A67A93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0F05DC7-73CA-0CA8-7821-3FF04E8AE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5E61B06-2D09-F836-5613-CB0C4AA5B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67DC1B0-9B98-3928-5BC3-F8C6A294F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706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44B2CAB-25D5-3948-F690-C84DD7642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A82568A-FCCF-4406-DAB0-8054EE688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0F42CC1-DAE6-1CC8-61A1-A92D3034D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F2B562C-7CC2-A68A-812A-F6F11C284A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4092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C7FDCD8-7AB9-5D66-5179-102F7A15B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3599509-C26C-D334-355C-0E71C2C5E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FB9B4E2-043E-42D4-9BBA-F5A2EA1EA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5EE31C5-16E6-4882-5945-371939DEA4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443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A9DA640-70DC-99A2-89F2-820A7CE49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E6BAC1A-663D-D490-76D6-8C502D661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E5BCEF0-7C0E-FD63-6323-14E770EEB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AF70E7C-FF57-5000-0C4D-DAC0C56BE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0626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3AFB41D-C967-3269-D02D-80957708F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6BC3D44-C3B6-E11C-3AFF-798E062C4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A8D9A58-D64D-2B30-EEEC-4034936AD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0189DE1-9D88-B9BE-5196-E58A7E6CF4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4075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A0227B0-781A-517F-B7E3-EF56E4FAE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45D0B27-7643-36B9-5069-1A130C539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3E10347-9338-0A1F-AC59-C9B613EF3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00D1A81-23D8-F873-10FC-F19D008230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92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406166-0129-A358-A098-BBF3CD2E3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CF1C38E-9483-5FEE-A577-214405C62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72843E8-1E11-AFC6-9C5C-1624643C2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07649F3-8F48-72AC-7C33-91B264245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9227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A731AB5-0E43-CA4B-A97C-C9E7D0DF1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28C2D52-7EC6-B0F6-2FEC-2F0943B94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29F467D-B871-4037-FA99-BAD56213C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A632989-696D-F186-B5AA-68C9376D99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8249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EDF9F29-6708-0AFE-C7A8-8FF05F3F2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EDB4E1E-B90C-C1C8-C5E6-FCFE07A0F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B769B1C-6C22-07B0-57AE-AF9CC59D0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1E8F314-EF67-62E8-B886-38A042661E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6654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391EC28-63AA-D0E0-CD06-C1A566A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2A3D729-048F-155D-E0E5-2F23857B1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5E6AFBE-325E-EB05-BC87-941980801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D01E8DD-35D9-551F-FEE4-FFFE58F090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9268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0D3152-17C9-809D-90B0-C20DA749F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48A8B6E-7AD8-1D8B-685D-71BF661C9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0D8AFBA-FBC0-BD84-45F2-EB50E7D69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0618483-93D1-4288-A738-7E7AE86131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7179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0D3152-17C9-809D-90B0-C20DA749F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48A8B6E-7AD8-1D8B-685D-71BF661C9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0D8AFBA-FBC0-BD84-45F2-EB50E7D69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0618483-93D1-4288-A738-7E7AE86131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5496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0D3152-17C9-809D-90B0-C20DA749F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48A8B6E-7AD8-1D8B-685D-71BF661C9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0D8AFBA-FBC0-BD84-45F2-EB50E7D69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0618483-93D1-4288-A738-7E7AE86131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2133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88C39E6-E317-745C-426C-36358ECC9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801A29CD-306C-4B97-12DA-6EBE22A33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FE8B176-0F38-A2EB-772E-468888884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72D723D-2415-B349-77BA-E9398DBD88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9000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172676C-983F-A678-A0D6-16CA630A9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7C1E85B-C186-62AD-867D-40072A844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93F16F0-5170-0F2B-C3A4-0617654D6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A01CBC0-4773-C967-6753-D7500E9D07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8964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711270D-EE8E-52A5-6621-9BFB238B6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8C0EB36-EDB4-4FA8-FD58-C66D80126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5B13810-6FF2-8187-A49D-780C6D8AE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43F6A6D-D503-45A7-E723-07A5899674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359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2221E8D-8FC0-0C94-59E9-CEEF79BF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BC6BCD0-E186-8D29-9542-235EA9C81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EC215EE-BC3A-633C-010F-F81EAE7A5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F5BAF06-6412-BFE3-E34D-C7DBC47022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4534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2221E8D-8FC0-0C94-59E9-CEEF79BF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BC6BCD0-E186-8D29-9542-235EA9C81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EC215EE-BC3A-633C-010F-F81EAE7A5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F5BAF06-6412-BFE3-E34D-C7DBC47022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9395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2221E8D-8FC0-0C94-59E9-CEEF79BF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BC6BCD0-E186-8D29-9542-235EA9C81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BEC215EE-BC3A-633C-010F-F81EAE7A5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F5BAF06-6412-BFE3-E34D-C7DBC47022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4402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761F452-E0DF-E19C-6B46-66775FF4D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3E5266C-3B4C-06AD-871C-D78E575B6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58EB752-5CC4-F8BD-9F0C-76A278399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BDCCF9E-CDC9-01AC-B36A-176D864F3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2926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D8F65A5-7F7A-87BD-BE8D-6373A4ABE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313AB78-9EF5-92BA-51DF-532D788F5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EBD1E07C-DDDF-3266-F978-B6DBFC3A7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414CC86-22DB-1947-EBAE-B20FF31DDC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5984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C300533-9CE0-D46B-7198-F4725B4E0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36854E5-72C7-7E85-BC61-73C3EB0CD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DF23C25-AB5D-CF3A-BA7D-26865C4EF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1FE57DD-2DC6-E8D6-FE76-0B591B1B1A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3739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36EEAFB-133C-285A-8496-9414DBA5F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0A12D67-474B-59FF-D3A2-F0196A52B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499E3B3-0011-F443-13C4-3BE923936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F48A6B4-8CB9-13FF-938D-EB085B20EC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4981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BC96DEF-4935-491C-1137-0C3EEA4C9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6F50143-7A20-0D75-9E70-6048F78BD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ABB777E-DD98-7B0D-0E89-F91AAF82D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126AD2B-D3E0-BE00-D5E5-211878E39C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7024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C7DDBA0-EAC5-27C2-D611-AA250B6F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92727CD-E3EB-A96C-E49B-205A18EDB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D12C5E6-435C-0FD8-63FD-3391B4A79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4E93BFA-EA72-E18B-BF79-06E6C29B2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9575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27FF20C-947D-B3EC-FF5D-72F05E4F1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FB62CCF8-6783-F93D-53F6-CF2FB6CE5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F4786BA-0B4C-69CD-2EDC-12213EEA0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31BEF7E-1275-6BE0-01A8-28742C0D56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1567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DC7119-470F-3020-6434-964BE53A2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A4CB09E-259F-AF73-EE34-D8796EE60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2DB4289-2488-5D24-E0CA-5956B1489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D6AD7D1-4978-FB14-17F2-7BD4F1890A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7610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83C4AD8-D5F1-63E4-35C4-37C7F4E28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957B7D2-3607-412D-2526-66EEF2C82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C2EF967F-72FD-98B6-5FBA-2B796F3F4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461023C-3C74-271D-7808-AFE7CF7810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5342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7CCBF9A-6C79-7E11-B587-5D2DDA627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146F5F5-45F1-1E66-E6E3-FD6EA7F1E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8DB6199-AF0D-737C-674B-FFCE915C4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9F06DBA-D073-EE2B-E331-0BAF1FF261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9003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029E0CE-88C1-6AD6-E86C-12849602B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8E47B80C-6204-0B88-DC3F-60253E0E1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57A25F0-B852-0EEF-F3B9-15A4EE333E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15370F2-8F3B-511C-93AC-36E56AD849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9336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F8830AB-B46E-4637-9288-FD7DAA872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AABEDCF0-4DB8-FB35-7100-A1EF65AE6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3A0EB4C-9273-D75F-1B47-E782EEC48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B7862AC-BE7E-10B2-9AA9-49F8917248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1070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638DC7F-D8E4-6040-9C13-E02BA79C3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5486F59-5A21-79A7-6F5B-727895A0E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E9D70743-75E7-220B-57A5-F06B802F5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26E51DF-94E5-BC08-EEB0-E0FF26AD18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7088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05D2748-13E6-CE6E-2E8A-66EE98117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D06C1F8F-8D86-B714-EE71-E414BA2F7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742C779-EF8F-0E73-AA46-E5CDF9868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61B71AA-0964-159F-B69B-BFBF308FFB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57178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AFC86FF-1970-92E6-1AB7-ECA1A422E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F283D1A-0DB7-37CB-CEC3-125808F4E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890B38F-5466-E068-B527-50EC8727A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B964191-10FA-D65B-81A1-60080EBA2F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5695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C46B055-0021-0FA1-30F1-641D1C8B6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3E170B7-902D-B003-66F2-9E0DBF5AB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1A7F562-215B-F87B-5043-8232C328B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59EC9E0-FF54-EBC6-4EF4-E73FBFE1B6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135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1ACE-890E-4B55-88CA-A440D73ED3A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BB8E-5703-4605-9BD4-B6282EF196A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8"/>
          <a:stretch>
            <a:fillRect/>
          </a:stretch>
        </p:blipFill>
        <p:spPr>
          <a:xfrm>
            <a:off x="10256520" y="0"/>
            <a:ext cx="2194560" cy="956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1ACE-890E-4B55-88CA-A440D73ED3A3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BB8E-5703-4605-9BD4-B6282EF196A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8"/>
          <a:stretch>
            <a:fillRect/>
          </a:stretch>
        </p:blipFill>
        <p:spPr>
          <a:xfrm>
            <a:off x="10256520" y="0"/>
            <a:ext cx="2194560" cy="956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35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274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944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2969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99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80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400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401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121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400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2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36B80835-DEB3-4275-B379-2566D87801AD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95999-A99C-46D6-BFDA-AEFA180EA74F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4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6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7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9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9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7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0052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0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2924148" y="1398020"/>
            <a:ext cx="7772400" cy="860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IN" sz="4000" b="1" dirty="0"/>
              <a:t>Deepfake Audio Detection using Deep Learning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1600" y="914400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/>
              <a:t> Mini-Project Presentation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7420" y="2255276"/>
            <a:ext cx="1424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/>
              <a:t>Presented by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938042"/>
              </p:ext>
            </p:extLst>
          </p:nvPr>
        </p:nvGraphicFramePr>
        <p:xfrm>
          <a:off x="2709834" y="2755342"/>
          <a:ext cx="8136903" cy="304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4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45321">
                  <a:extLst>
                    <a:ext uri="{9D8B030D-6E8A-4147-A177-3AD203B41FA5}">
                      <a16:colId xmlns:a16="http://schemas.microsoft.com/office/drawing/2014/main" xmlns="" val="1033478140"/>
                    </a:ext>
                  </a:extLst>
                </a:gridCol>
                <a:gridCol w="416966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764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Group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Sl.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USN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4800" b="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IN" sz="4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M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1AY23CS065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Gajula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Harshith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1AY23CS077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Shankarlingeshwar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1AY23CS107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Shailaja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1AY23CS166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41680">
                <a:tc gridSpan="4">
                  <a:txBody>
                    <a:bodyPr/>
                    <a:lstStyle/>
                    <a:p>
                      <a:pPr algn="l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Guide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Name:</a:t>
                      </a:r>
                      <a:r>
                        <a:rPr lang="en-US" b="1" baseline="0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b="1" baseline="0" dirty="0" err="1">
                          <a:solidFill>
                            <a:schemeClr val="tx1"/>
                          </a:solidFill>
                        </a:rPr>
                        <a:t>Shrutika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 C </a:t>
                      </a:r>
                      <a:r>
                        <a:rPr lang="en-US" b="1" baseline="0" dirty="0" err="1">
                          <a:solidFill>
                            <a:schemeClr val="tx1"/>
                          </a:solidFill>
                        </a:rPr>
                        <a:t>Rampure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Designation: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 Assistant Professor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>
          <a:xfrm>
            <a:off x="2667000" y="0"/>
            <a:ext cx="7620000" cy="914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400" b="1" dirty="0"/>
              <a:t>Department of Computer Science &amp; Engineering</a:t>
            </a:r>
            <a:endParaRPr lang="en-IN" sz="2400" dirty="0"/>
          </a:p>
          <a:p>
            <a:pPr algn="ctr"/>
            <a:r>
              <a:rPr lang="en-US" sz="2000" b="1" dirty="0"/>
              <a:t>Acharya Institute of Technology</a:t>
            </a:r>
            <a:endParaRPr lang="en-IN" sz="2000" dirty="0"/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baseline="0" dirty="0">
                <a:ea typeface="+mj-ea"/>
                <a:cs typeface="+mj-cs"/>
              </a:rPr>
              <a:t>Soladevanahalli,</a:t>
            </a:r>
            <a:r>
              <a:rPr lang="en-IN" sz="1600" dirty="0">
                <a:ea typeface="+mj-ea"/>
                <a:cs typeface="+mj-cs"/>
              </a:rPr>
              <a:t> Bengaluru 560 107</a:t>
            </a:r>
            <a:endParaRPr kumimoji="0" lang="en-IN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16D94B9-8F7E-AE26-44FE-F630A5EC3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08EB05AA-81A1-62F8-65FB-553814C229DE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07AD87BB-A58B-6DE4-08BD-8A1C3967C4BF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25F80DE0-84EA-CD7C-46F3-5BB62BF70D5E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63AE96D9-534F-65CC-4F9C-F5A0F525EF50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06A6631A-D210-A059-F620-A2FB8233FEFE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1F92D1D9-37E1-793F-9409-71DFE9E30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EE777E4-CAC0-08D9-0B00-0D030ED7AE1D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F47D7A53-B139-AFE2-D04C-3456568F3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62" y="152400"/>
            <a:ext cx="8762288" cy="1143000"/>
          </a:xfrm>
        </p:spPr>
        <p:txBody>
          <a:bodyPr>
            <a:normAutofit/>
          </a:bodyPr>
          <a:lstStyle/>
          <a:p>
            <a:r>
              <a:rPr lang="en-IN" sz="4000" b="1" dirty="0"/>
              <a:t>CONTENTS/AGENDA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xmlns="" id="{A33DD39F-9DE1-086F-DE18-B78118BE5C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8019853"/>
              </p:ext>
            </p:extLst>
          </p:nvPr>
        </p:nvGraphicFramePr>
        <p:xfrm>
          <a:off x="2591513" y="1295400"/>
          <a:ext cx="876228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687">
                  <a:extLst>
                    <a:ext uri="{9D8B030D-6E8A-4147-A177-3AD203B41FA5}">
                      <a16:colId xmlns:a16="http://schemas.microsoft.com/office/drawing/2014/main" xmlns="" val="2224252736"/>
                    </a:ext>
                  </a:extLst>
                </a:gridCol>
                <a:gridCol w="7467601">
                  <a:extLst>
                    <a:ext uri="{9D8B030D-6E8A-4147-A177-3AD203B41FA5}">
                      <a16:colId xmlns:a16="http://schemas.microsoft.com/office/drawing/2014/main" xmlns="" val="229199432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Sl.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CONTENTS / AGENDA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43103465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/>
                        <a:t>Introduction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03511602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/>
                        <a:t>Literature survey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6660699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/>
                        <a:t>Problem statement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29123366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/>
                        <a:t>Proposed methodology and Project Objectives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01413534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Requirement specification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79876829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/>
                        <a:t>Project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49315386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/>
                        <a:t>Project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11205587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/>
                        <a:t>Project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70884305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/>
                        <a:t>Results &amp; Discussions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20596754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/>
                        <a:t>Conclusion and 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06918912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400" dirty="0"/>
                        <a:t>References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49470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8527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7669E2E-F2E6-47CA-D75D-57D683BA4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91948B64-FC86-0D9F-5A90-662FE7351327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9352AC71-3314-FD27-E3FB-3FF024289549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1CDBDCC3-662B-8D03-3379-FC87482F168C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CC87D79E-4FE7-378C-A9D4-4FE3D77A8F88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C83082D3-466A-7BCD-2FF2-7D6DE6A18EC4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6EEBEBA0-2D3E-991C-1BFC-08CBB959B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4BE8F17-3AFD-F4A3-3E80-E7A4A5CFC8D1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C1F0307C-7490-FC4C-0DF6-46E3A62A4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99" y="381000"/>
            <a:ext cx="8443337" cy="6172199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b="1" dirty="0"/>
              <a:t>1. </a:t>
            </a:r>
            <a:r>
              <a:rPr lang="en-IN" sz="54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947125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053C76F-0D64-2733-A139-9967DA286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325693A2-B249-3CA2-10AE-6167784E3B07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11C60233-3ED3-B34F-9D48-D0B509EA57B2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94304C06-2ABC-64DE-80FA-FF384DD21824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D5D11D65-7A80-9093-720D-9A8340161DA4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785833F3-DE07-BEA1-66E6-BB78099298AC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EB3A0519-CF02-7A23-6CE9-9A0F28A16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C214B9A-AB24-72A6-C836-703A5408E97B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07FD5E4A-D6B6-1EF1-4949-169A61B7B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152400"/>
            <a:ext cx="8686800" cy="1143000"/>
          </a:xfrm>
        </p:spPr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F14EBEFF-19E4-A84A-F6D4-C45934D47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99" y="1295400"/>
            <a:ext cx="8443337" cy="5410200"/>
          </a:xfrm>
        </p:spPr>
        <p:txBody>
          <a:bodyPr>
            <a:normAutofit fontScale="92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Definition</a:t>
            </a:r>
            <a:r>
              <a:rPr lang="en-US" dirty="0">
                <a:cs typeface="Times New Roman" panose="02020603050405020304" pitchFamily="18" charset="0"/>
              </a:rPr>
              <a:t> – </a:t>
            </a:r>
            <a:r>
              <a:rPr lang="en-US" dirty="0" err="1">
                <a:cs typeface="Times New Roman" panose="02020603050405020304" pitchFamily="18" charset="0"/>
              </a:rPr>
              <a:t>Deepfake</a:t>
            </a:r>
            <a:r>
              <a:rPr lang="en-US" dirty="0">
                <a:cs typeface="Times New Roman" panose="02020603050405020304" pitchFamily="18" charset="0"/>
              </a:rPr>
              <a:t> audio refers to artificially generated or manipulated voices using AI techniques like deep learning.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Growing Concern</a:t>
            </a:r>
            <a:r>
              <a:rPr lang="en-US" dirty="0">
                <a:cs typeface="Times New Roman" panose="02020603050405020304" pitchFamily="18" charset="0"/>
              </a:rPr>
              <a:t> – Used in scams, misinformation, and impersonation, posing serious security and ethical challenges.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Technology Behind It</a:t>
            </a:r>
            <a:r>
              <a:rPr lang="en-US" dirty="0">
                <a:cs typeface="Times New Roman" panose="02020603050405020304" pitchFamily="18" charset="0"/>
              </a:rPr>
              <a:t> – Created using models such as LSTM and MFCC.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Need for Detection</a:t>
            </a:r>
            <a:r>
              <a:rPr lang="en-US" dirty="0">
                <a:cs typeface="Times New Roman" panose="02020603050405020304" pitchFamily="18" charset="0"/>
              </a:rPr>
              <a:t> – Protects against fraud, fake news, and misuse of personal voices.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cs typeface="Times New Roman" panose="02020603050405020304" pitchFamily="18" charset="0"/>
              </a:rPr>
              <a:t>Detection Methods</a:t>
            </a:r>
            <a:r>
              <a:rPr lang="en-US" dirty="0">
                <a:cs typeface="Times New Roman" panose="02020603050405020304" pitchFamily="18" charset="0"/>
              </a:rPr>
              <a:t> – Relies on AI/ML algorithms, spectral analysis, and forensic techniques to identify artifacts in audio.</a:t>
            </a:r>
          </a:p>
          <a:p>
            <a:pPr>
              <a:buNone/>
            </a:pPr>
            <a:endParaRPr lang="en-IN" dirty="0">
              <a:latin typeface="+mj-lt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92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5977099-9E1B-BA9B-B765-FFC94F68F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F66A3211-6353-47C0-677D-FED520936CB9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858404DF-86C6-5341-9652-F8CFD9C083BD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2DC3FEF2-E50A-4FBD-1E89-497C23210917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48B9697E-C1BB-B47E-88BB-800B47120FD5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F45597C9-D537-78FF-5338-09BF9750DEB1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FE8F2607-1BF0-F0F0-506E-74F0A5184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599EAC8-EA9F-8664-8039-4B64E6A397A7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B41CFF10-2450-D5A5-C41E-AC1631AAB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99" y="381000"/>
            <a:ext cx="8443337" cy="6172199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b="1" dirty="0"/>
              <a:t>2. </a:t>
            </a:r>
            <a:r>
              <a:rPr lang="en-IN" sz="5400" b="1" dirty="0"/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61781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A1191B5-7077-7F9D-2900-76247F7E8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01A54A4C-A9FD-ADB6-5968-DDE1E96495ED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E75ABCA0-06E4-CCB5-25D2-BA5110B25138}"/>
              </a:ext>
            </a:extLst>
          </p:cNvPr>
          <p:cNvSpPr/>
          <p:nvPr/>
        </p:nvSpPr>
        <p:spPr>
          <a:xfrm flipH="1">
            <a:off x="11862220" y="0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26CD6D92-77AC-8666-D391-D55876B9372E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8F8ABA1C-BB78-60D5-B1D9-69478D93EFEE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047ED61F-2CA0-7366-1CF1-BFC9B3FCFC80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97B154EF-DD87-4DDF-7D58-032518D45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D79D291-BDA6-3E94-274B-49DBF5836F16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2E4BEF36-0C32-2D6C-8E79-EF75760E4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160" y="-196627"/>
            <a:ext cx="8839199" cy="1143000"/>
          </a:xfrm>
        </p:spPr>
        <p:txBody>
          <a:bodyPr/>
          <a:lstStyle/>
          <a:p>
            <a:r>
              <a:rPr lang="en-IN" b="1" dirty="0"/>
              <a:t>LITERATURE SURVEY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53B41793-7E3D-1410-47A1-73DBA930B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0" y="1706563"/>
            <a:ext cx="8229600" cy="4205064"/>
          </a:xfrm>
        </p:spPr>
        <p:txBody>
          <a:bodyPr>
            <a:normAutofit/>
          </a:bodyPr>
          <a:lstStyle/>
          <a:p>
            <a:pPr>
              <a:buNone/>
            </a:pPr>
            <a:endParaRPr lang="en-IN"/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2E448722-FE0E-2D43-36C8-3E4F52E60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223962"/>
              </p:ext>
            </p:extLst>
          </p:nvPr>
        </p:nvGraphicFramePr>
        <p:xfrm>
          <a:off x="2516581" y="830262"/>
          <a:ext cx="9065819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638">
                  <a:extLst>
                    <a:ext uri="{9D8B030D-6E8A-4147-A177-3AD203B41FA5}">
                      <a16:colId xmlns:a16="http://schemas.microsoft.com/office/drawing/2014/main" xmlns="" val="3031133096"/>
                    </a:ext>
                  </a:extLst>
                </a:gridCol>
                <a:gridCol w="2374305">
                  <a:extLst>
                    <a:ext uri="{9D8B030D-6E8A-4147-A177-3AD203B41FA5}">
                      <a16:colId xmlns:a16="http://schemas.microsoft.com/office/drawing/2014/main" xmlns="" val="1934286308"/>
                    </a:ext>
                  </a:extLst>
                </a:gridCol>
                <a:gridCol w="1510969">
                  <a:extLst>
                    <a:ext uri="{9D8B030D-6E8A-4147-A177-3AD203B41FA5}">
                      <a16:colId xmlns:a16="http://schemas.microsoft.com/office/drawing/2014/main" xmlns="" val="1250469601"/>
                    </a:ext>
                  </a:extLst>
                </a:gridCol>
                <a:gridCol w="1510969">
                  <a:extLst>
                    <a:ext uri="{9D8B030D-6E8A-4147-A177-3AD203B41FA5}">
                      <a16:colId xmlns:a16="http://schemas.microsoft.com/office/drawing/2014/main" xmlns="" val="1003763719"/>
                    </a:ext>
                  </a:extLst>
                </a:gridCol>
                <a:gridCol w="1510969">
                  <a:extLst>
                    <a:ext uri="{9D8B030D-6E8A-4147-A177-3AD203B41FA5}">
                      <a16:colId xmlns:a16="http://schemas.microsoft.com/office/drawing/2014/main" xmlns="" val="225965863"/>
                    </a:ext>
                  </a:extLst>
                </a:gridCol>
                <a:gridCol w="1510969">
                  <a:extLst>
                    <a:ext uri="{9D8B030D-6E8A-4147-A177-3AD203B41FA5}">
                      <a16:colId xmlns:a16="http://schemas.microsoft.com/office/drawing/2014/main" xmlns="" val="1280028463"/>
                    </a:ext>
                  </a:extLst>
                </a:gridCol>
              </a:tblGrid>
              <a:tr h="163992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S.N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Paper title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Publication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 addressed in the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Author’s idea/approach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Shortfalls in author’s approach and solution provided in the proposed methodology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28140503"/>
                  </a:ext>
                </a:extLst>
              </a:tr>
              <a:tr h="86311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Multi feature fusion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Kumar &amp;</a:t>
                      </a:r>
                      <a:r>
                        <a:rPr lang="en-US" dirty="0" err="1"/>
                        <a:t>sharma</a:t>
                      </a:r>
                      <a:r>
                        <a:rPr lang="en-US" dirty="0"/>
                        <a:t>,</a:t>
                      </a:r>
                    </a:p>
                    <a:p>
                      <a:pPr algn="ctr"/>
                      <a:r>
                        <a:rPr lang="en-US" dirty="0"/>
                        <a:t>2024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Deep fake audio detection 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Multi feature fusion(MFCC+</a:t>
                      </a:r>
                    </a:p>
                    <a:p>
                      <a:pPr algn="ctr"/>
                      <a:r>
                        <a:rPr lang="en-US" sz="1600" dirty="0"/>
                        <a:t>Spectrogram)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Requires large </a:t>
                      </a:r>
                      <a:r>
                        <a:rPr lang="en-US" dirty="0" err="1"/>
                        <a:t>computa</a:t>
                      </a:r>
                      <a:r>
                        <a:rPr lang="en-US" dirty="0"/>
                        <a:t>-</a:t>
                      </a:r>
                    </a:p>
                    <a:p>
                      <a:pPr algn="ctr"/>
                      <a:r>
                        <a:rPr lang="en-US" dirty="0" err="1"/>
                        <a:t>tional</a:t>
                      </a:r>
                      <a:r>
                        <a:rPr lang="en-US" dirty="0"/>
                        <a:t> resources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810387051"/>
                  </a:ext>
                </a:extLst>
              </a:tr>
              <a:tr h="86311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Robust spoof speech  detection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Chen et al,</a:t>
                      </a:r>
                    </a:p>
                    <a:p>
                      <a:pPr algn="ctr"/>
                      <a:r>
                        <a:rPr lang="en-US" dirty="0"/>
                        <a:t>2024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Spoof speech detection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Adversarial training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Training time and complexity are high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425147947"/>
                  </a:ext>
                </a:extLst>
              </a:tr>
              <a:tr h="60418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Hybrid DL framework for detecting voice spoofing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Mittal &amp; Singh,</a:t>
                      </a:r>
                    </a:p>
                    <a:p>
                      <a:pPr algn="ctr"/>
                      <a:r>
                        <a:rPr lang="en-US" dirty="0"/>
                        <a:t>2023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Detecting of voice spoofing attacks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CNN+</a:t>
                      </a:r>
                      <a:r>
                        <a:rPr lang="en-IN" dirty="0"/>
                        <a:t>RNN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 </a:t>
                      </a:r>
                      <a:r>
                        <a:rPr lang="en-US" dirty="0" err="1"/>
                        <a:t>computati</a:t>
                      </a:r>
                      <a:r>
                        <a:rPr lang="en-US" dirty="0"/>
                        <a:t>-</a:t>
                      </a:r>
                    </a:p>
                    <a:p>
                      <a:pPr algn="ctr"/>
                      <a:r>
                        <a:rPr lang="en-US" dirty="0" err="1" smtClean="0"/>
                        <a:t>onal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/>
                        <a:t>cost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280830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382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A1191B5-7077-7F9D-2900-76247F7E8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01A54A4C-A9FD-ADB6-5968-DDE1E96495ED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E75ABCA0-06E4-CCB5-25D2-BA5110B25138}"/>
              </a:ext>
            </a:extLst>
          </p:cNvPr>
          <p:cNvSpPr/>
          <p:nvPr/>
        </p:nvSpPr>
        <p:spPr>
          <a:xfrm flipH="1">
            <a:off x="11862220" y="0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26CD6D92-77AC-8666-D391-D55876B9372E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8F8ABA1C-BB78-60D5-B1D9-69478D93EFEE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047ED61F-2CA0-7366-1CF1-BFC9B3FCFC80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97B154EF-DD87-4DDF-7D58-032518D45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D79D291-BDA6-3E94-274B-49DBF5836F16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2E4BEF36-0C32-2D6C-8E79-EF75760E4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160" y="-196627"/>
            <a:ext cx="8839199" cy="1143000"/>
          </a:xfrm>
        </p:spPr>
        <p:txBody>
          <a:bodyPr/>
          <a:lstStyle/>
          <a:p>
            <a:r>
              <a:rPr lang="en-IN" b="1" dirty="0"/>
              <a:t>LITERATURE SURVEY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53B41793-7E3D-1410-47A1-73DBA930B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0" y="1706563"/>
            <a:ext cx="8229600" cy="4205064"/>
          </a:xfrm>
        </p:spPr>
        <p:txBody>
          <a:bodyPr>
            <a:normAutofit/>
          </a:bodyPr>
          <a:lstStyle/>
          <a:p>
            <a:pPr>
              <a:buNone/>
            </a:pPr>
            <a:endParaRPr lang="en-IN"/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2E448722-FE0E-2D43-36C8-3E4F52E60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893477"/>
              </p:ext>
            </p:extLst>
          </p:nvPr>
        </p:nvGraphicFramePr>
        <p:xfrm>
          <a:off x="2516581" y="830262"/>
          <a:ext cx="9065818" cy="43952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637">
                  <a:extLst>
                    <a:ext uri="{9D8B030D-6E8A-4147-A177-3AD203B41FA5}">
                      <a16:colId xmlns:a16="http://schemas.microsoft.com/office/drawing/2014/main" xmlns="" val="3031133096"/>
                    </a:ext>
                  </a:extLst>
                </a:gridCol>
                <a:gridCol w="2374305">
                  <a:extLst>
                    <a:ext uri="{9D8B030D-6E8A-4147-A177-3AD203B41FA5}">
                      <a16:colId xmlns:a16="http://schemas.microsoft.com/office/drawing/2014/main" xmlns="" val="1934286308"/>
                    </a:ext>
                  </a:extLst>
                </a:gridCol>
                <a:gridCol w="1510969">
                  <a:extLst>
                    <a:ext uri="{9D8B030D-6E8A-4147-A177-3AD203B41FA5}">
                      <a16:colId xmlns:a16="http://schemas.microsoft.com/office/drawing/2014/main" xmlns="" val="1250469601"/>
                    </a:ext>
                  </a:extLst>
                </a:gridCol>
                <a:gridCol w="1510969">
                  <a:extLst>
                    <a:ext uri="{9D8B030D-6E8A-4147-A177-3AD203B41FA5}">
                      <a16:colId xmlns:a16="http://schemas.microsoft.com/office/drawing/2014/main" xmlns="" val="1003763719"/>
                    </a:ext>
                  </a:extLst>
                </a:gridCol>
                <a:gridCol w="1510969">
                  <a:extLst>
                    <a:ext uri="{9D8B030D-6E8A-4147-A177-3AD203B41FA5}">
                      <a16:colId xmlns:a16="http://schemas.microsoft.com/office/drawing/2014/main" xmlns="" val="225965863"/>
                    </a:ext>
                  </a:extLst>
                </a:gridCol>
                <a:gridCol w="1510969">
                  <a:extLst>
                    <a:ext uri="{9D8B030D-6E8A-4147-A177-3AD203B41FA5}">
                      <a16:colId xmlns:a16="http://schemas.microsoft.com/office/drawing/2014/main" xmlns="" val="1280028463"/>
                    </a:ext>
                  </a:extLst>
                </a:gridCol>
              </a:tblGrid>
              <a:tr h="2015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S.N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Paper title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Publication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 addressed in the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Author’s idea/approach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Shortfalls in author’s approach and solution provided in the proposed methodology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28140503"/>
                  </a:ext>
                </a:extLst>
              </a:tr>
              <a:tr h="91616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Detection of AI-synthesized speech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Wang et al,</a:t>
                      </a:r>
                    </a:p>
                    <a:p>
                      <a:pPr algn="ctr"/>
                      <a:r>
                        <a:rPr lang="en-US" dirty="0"/>
                        <a:t>2023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AI-synthesized speech detection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Deep learning with temporal</a:t>
                      </a:r>
                    </a:p>
                    <a:p>
                      <a:pPr algn="ctr"/>
                      <a:r>
                        <a:rPr lang="en-US" dirty="0"/>
                        <a:t>modeling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Tested only in controlled lab settings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810387051"/>
                  </a:ext>
                </a:extLst>
              </a:tr>
              <a:tr h="119101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End-to-end detection of spoofed speech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Tak et al,</a:t>
                      </a:r>
                    </a:p>
                    <a:p>
                      <a:pPr algn="ctr"/>
                      <a:r>
                        <a:rPr lang="en-US" dirty="0"/>
                        <a:t>2022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Detecting end-to-end spoofed speech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CNN trained </a:t>
                      </a:r>
                    </a:p>
                    <a:p>
                      <a:pPr algn="ctr"/>
                      <a:r>
                        <a:rPr lang="en-US" dirty="0"/>
                        <a:t>directly on spectrogram features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Works only on limited datasets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425147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71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45DA6B8-ED58-B6F1-066F-0B84904B5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A026FADE-A446-46AF-B327-FD646DBC3F34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D93C5905-18E7-91B7-174F-34CCF633732B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499098F3-6F0F-BF87-7B1A-57058D21EE86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6B3E5955-4DC1-0B3D-5E61-EB22272ECB4D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EE3884BA-F33A-80AB-14C5-33E2ED002F75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F51619B2-BCBF-1BDC-C3BA-19E1C58B4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04CCA24-BEEF-8E9A-3867-9B090AD76FC8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EADE2772-F824-373F-5C26-9692D86B2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99" y="381000"/>
            <a:ext cx="8443337" cy="6172199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b="1" dirty="0"/>
              <a:t>3. </a:t>
            </a:r>
            <a:r>
              <a:rPr lang="en-IN" sz="5400" b="1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47015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FACE3B9-70B5-C12B-8173-E1D564AF3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42CDF674-B903-C651-9485-60472524865F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E350FAF1-9D3C-2DD7-2D37-E2DFE012580D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AAED04E2-E6DE-D215-C813-40A85B6A2A30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55BDF708-F641-BC47-B249-2CC1E30A6A9D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1C6C5A9D-2C48-201F-6B38-F1B3BEC4B955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799AA383-F4B7-DA57-988F-13D5B40F6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BFF8F8F-3060-61C0-7033-8BA6CEAE1CD6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D5F8ADC8-E526-6BD1-D994-5624E4986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5172" y="-15242"/>
            <a:ext cx="8839200" cy="1143000"/>
          </a:xfrm>
        </p:spPr>
        <p:txBody>
          <a:bodyPr>
            <a:normAutofit/>
          </a:bodyPr>
          <a:lstStyle/>
          <a:p>
            <a:r>
              <a:rPr lang="en-IN" b="1" dirty="0"/>
              <a:t>PROBLEM STATEMENT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8F3CF4BE-9305-F1CF-8F16-CD1B94275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3865" y="990600"/>
            <a:ext cx="8618187" cy="54102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Overview of Problem identified:</a:t>
            </a:r>
          </a:p>
          <a:p>
            <a:pPr marL="0" indent="0">
              <a:buNone/>
            </a:pPr>
            <a:r>
              <a:rPr lang="en-US" b="1" dirty="0"/>
              <a:t>Existing Problem :</a:t>
            </a:r>
          </a:p>
          <a:p>
            <a:r>
              <a:rPr lang="en-US" dirty="0"/>
              <a:t>Rapid rise of AI-generated voice cloning &amp; deepfake audio.</a:t>
            </a:r>
          </a:p>
          <a:p>
            <a:r>
              <a:rPr lang="en-US" dirty="0"/>
              <a:t>Fake audio is used for fraud, misinformation, identity spoofing.</a:t>
            </a:r>
          </a:p>
          <a:p>
            <a:r>
              <a:rPr lang="en-US" dirty="0"/>
              <a:t>Humans cannot reliably distinguish real vs fake audio by hearing alone.</a:t>
            </a:r>
          </a:p>
          <a:p>
            <a:pPr marL="0" indent="0">
              <a:buNone/>
            </a:pPr>
            <a:r>
              <a:rPr lang="en-US" b="1" dirty="0"/>
              <a:t>Why the Problem Should Be Resolved </a:t>
            </a:r>
            <a:r>
              <a:rPr lang="en-US" b="1" dirty="0" smtClean="0"/>
              <a:t>:</a:t>
            </a:r>
            <a:endParaRPr lang="en-US" b="1" dirty="0"/>
          </a:p>
          <a:p>
            <a:r>
              <a:rPr lang="en-US" dirty="0"/>
              <a:t>Needed to prevent voice spoofing attacks in banking &amp; security.</a:t>
            </a:r>
          </a:p>
          <a:p>
            <a:r>
              <a:rPr lang="en-US" dirty="0"/>
              <a:t>Protects users from fraud, impersonation, and misinformation.</a:t>
            </a:r>
          </a:p>
          <a:p>
            <a:r>
              <a:rPr lang="en-US" dirty="0"/>
              <a:t>Ensures trust in digital communication and media.</a:t>
            </a:r>
          </a:p>
          <a:p>
            <a:pPr marL="0" indent="0">
              <a:buNone/>
            </a:pPr>
            <a:r>
              <a:rPr lang="en-IN" b="1" dirty="0"/>
              <a:t>Project Domain Used to Solve the </a:t>
            </a:r>
            <a:r>
              <a:rPr lang="en-IN" b="1" dirty="0" smtClean="0"/>
              <a:t>Problem :</a:t>
            </a:r>
            <a:endParaRPr lang="en-IN" b="1" dirty="0"/>
          </a:p>
          <a:p>
            <a:r>
              <a:rPr lang="en-IN" dirty="0"/>
              <a:t>Deep Learning (LSTM) for </a:t>
            </a:r>
            <a:r>
              <a:rPr lang="en-IN" dirty="0" err="1"/>
              <a:t>analyzing</a:t>
            </a:r>
            <a:r>
              <a:rPr lang="en-IN" dirty="0"/>
              <a:t> voice patterns.</a:t>
            </a:r>
          </a:p>
          <a:p>
            <a:r>
              <a:rPr lang="en-IN" dirty="0"/>
              <a:t>MFCC audio feature extraction for identifying subtle differences.</a:t>
            </a:r>
          </a:p>
          <a:p>
            <a:r>
              <a:rPr lang="en-IN" dirty="0"/>
              <a:t>Flask-based web system for real-time deepfake detection.</a:t>
            </a:r>
          </a:p>
        </p:txBody>
      </p:sp>
    </p:spTree>
    <p:extLst>
      <p:ext uri="{BB962C8B-B14F-4D97-AF65-F5344CB8AC3E}">
        <p14:creationId xmlns:p14="http://schemas.microsoft.com/office/powerpoint/2010/main" val="4073561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B7ABB4A-0CE4-7166-39A2-2EBAFAEC5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FD665531-A6E7-F7CE-2E56-0393ED697FE8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A6479CEC-FFCF-C8DA-8E88-E7B36857C8EE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9B762E80-0C12-35F6-5BD8-BA13A0BE1FE4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383B9932-0FED-0C8D-4C16-45CD94E4EB23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EDE572AD-546A-95D4-0355-F386B8886AED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0DDC8D00-E827-4851-02EA-368D9836C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20BA1C4-46BD-1FF3-DA0B-C85CADC24A3E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EA6600ED-E3FB-737C-5B26-0267495F8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0785" y="0"/>
            <a:ext cx="8443337" cy="5181600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b="1" dirty="0"/>
              <a:t>4. </a:t>
            </a:r>
            <a:r>
              <a:rPr lang="en-IN" sz="5400" b="1" dirty="0"/>
              <a:t>PROPOSED METHODOLOGY &amp; PROJECT OBJECTIVES</a:t>
            </a:r>
          </a:p>
        </p:txBody>
      </p:sp>
    </p:spTree>
    <p:extLst>
      <p:ext uri="{BB962C8B-B14F-4D97-AF65-F5344CB8AC3E}">
        <p14:creationId xmlns:p14="http://schemas.microsoft.com/office/powerpoint/2010/main" val="98115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2A3A9E5-8CF5-B5D4-84BA-67E521CA6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65744E57-2A26-7AFB-2BE6-8A482EDA17C8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58AC264C-D43F-8506-C4B2-0966D3F01B13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C63568BD-21ED-F24E-C11D-8C620FFD5630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7F60B3BD-B0C8-0BA5-30A4-BC1CF57FA43F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0F64DC7B-EC75-0558-94F4-839BE8CF72D9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876CBA86-574C-260F-2A78-D23D17598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E8EA56A-E50A-D453-02BD-4BC39703B98C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5A43D123-6F99-2B3F-CE5B-FAE3FEB85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52400"/>
            <a:ext cx="8915400" cy="1143000"/>
          </a:xfrm>
        </p:spPr>
        <p:txBody>
          <a:bodyPr>
            <a:normAutofit/>
          </a:bodyPr>
          <a:lstStyle/>
          <a:p>
            <a:r>
              <a:rPr lang="en-IN" b="1" dirty="0"/>
              <a:t>PROPOSED METHODOLOGY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1FBB8C5E-7F3D-C5C5-5EDE-00388B056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513" y="1212769"/>
            <a:ext cx="8790873" cy="523113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cs typeface="Times New Roman" panose="02020603050405020304" pitchFamily="18" charset="0"/>
              </a:rPr>
              <a:t>Input</a:t>
            </a:r>
            <a:r>
              <a:rPr lang="en-US" dirty="0">
                <a:cs typeface="Times New Roman" panose="02020603050405020304" pitchFamily="18" charset="0"/>
              </a:rPr>
              <a:t> – Upload the audio file.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cs typeface="Times New Roman" panose="02020603050405020304" pitchFamily="18" charset="0"/>
              </a:rPr>
              <a:t>Preprocessing</a:t>
            </a:r>
            <a:r>
              <a:rPr lang="en-US" dirty="0">
                <a:cs typeface="Times New Roman" panose="02020603050405020304" pitchFamily="18" charset="0"/>
              </a:rPr>
              <a:t> – Convert audio </a:t>
            </a:r>
            <a:r>
              <a:rPr lang="en-US" dirty="0" smtClean="0">
                <a:cs typeface="Times New Roman" panose="02020603050405020304" pitchFamily="18" charset="0"/>
              </a:rPr>
              <a:t>to </a:t>
            </a:r>
            <a:r>
              <a:rPr lang="en-US" dirty="0">
                <a:cs typeface="Times New Roman" panose="02020603050405020304" pitchFamily="18" charset="0"/>
              </a:rPr>
              <a:t>16kHz.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cs typeface="Times New Roman" panose="02020603050405020304" pitchFamily="18" charset="0"/>
              </a:rPr>
              <a:t>Feature Extraction</a:t>
            </a:r>
            <a:r>
              <a:rPr lang="en-US" dirty="0">
                <a:cs typeface="Times New Roman" panose="02020603050405020304" pitchFamily="18" charset="0"/>
              </a:rPr>
              <a:t> – Generate MFCCs.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cs typeface="Times New Roman" panose="02020603050405020304" pitchFamily="18" charset="0"/>
              </a:rPr>
              <a:t>Model Training</a:t>
            </a:r>
            <a:r>
              <a:rPr lang="en-US" dirty="0">
                <a:cs typeface="Times New Roman" panose="02020603050405020304" pitchFamily="18" charset="0"/>
              </a:rPr>
              <a:t> – Use LSTM for classification.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 dirty="0">
                <a:cs typeface="Times New Roman" panose="02020603050405020304" pitchFamily="18" charset="0"/>
              </a:rPr>
              <a:t>Output</a:t>
            </a:r>
            <a:r>
              <a:rPr lang="en-US" dirty="0">
                <a:cs typeface="Times New Roman" panose="02020603050405020304" pitchFamily="18" charset="0"/>
              </a:rPr>
              <a:t> – Predict probability: Real or Fake.</a:t>
            </a:r>
          </a:p>
        </p:txBody>
      </p:sp>
    </p:spTree>
    <p:extLst>
      <p:ext uri="{BB962C8B-B14F-4D97-AF65-F5344CB8AC3E}">
        <p14:creationId xmlns:p14="http://schemas.microsoft.com/office/powerpoint/2010/main" val="3466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A64230D-9B17-2B74-ADBC-C304E4D0D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89904AFD-E063-FD88-C713-8AF111A56181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B61F6278-824D-91B8-8CCC-F01595B0A464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E62DFCB3-C312-799C-6146-80473139EF4F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0D029557-53A1-4067-4A6D-875496F1A89E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B8AC37BE-78EF-F072-304F-C3CA7D403E14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0244428F-9306-5263-4AF3-71600914C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A97992E-B067-62A6-07A9-69BDAD095D77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E0B84B2B-47CF-93AD-6158-C3813443A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52400"/>
            <a:ext cx="8915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BLOCK DIAGRAM OF PROPOSED METHODOLOGY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92B9ACDA-0A89-10F9-8B6A-BAE3F1E23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513" y="1474470"/>
            <a:ext cx="8790873" cy="5231130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577F9AB-12B0-E0EE-3796-226B3E217F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318727"/>
            <a:ext cx="3478820" cy="51917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CE9FF878-0149-2625-E57F-220F7F7A25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692910"/>
            <a:ext cx="5867400" cy="519176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001000" y="3352800"/>
            <a:ext cx="2057400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871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26F7B41-9CC1-6195-B6E2-D1E1F0DD8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72F8B289-1C22-F36B-B7BC-71F1C4F405FF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7B6708BF-70F8-5F49-9ABA-47915B794A4E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1B3EB9A0-F78E-B13C-E31E-BB4810C79A85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E402C77F-2388-C0CC-C832-E7DFB5A93D5E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FF5DE167-672E-A3E5-BC03-BCEA233EE3FA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3C91523C-4B9E-2C03-7069-9C3EFFB3F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9BAC199-1ABD-54D3-29FF-1AB74CE0A081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64C8AC4C-3C76-8FC3-E521-85B228CD9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52400"/>
            <a:ext cx="8915400" cy="1143000"/>
          </a:xfrm>
        </p:spPr>
        <p:txBody>
          <a:bodyPr>
            <a:normAutofit/>
          </a:bodyPr>
          <a:lstStyle/>
          <a:p>
            <a:r>
              <a:rPr lang="en-IN" b="1" dirty="0"/>
              <a:t>PROPOSED METHODOLOGY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6744CA6F-0DE9-806C-C31D-895F71126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513" y="1474470"/>
            <a:ext cx="8790873" cy="5231130"/>
          </a:xfrm>
        </p:spPr>
        <p:txBody>
          <a:bodyPr>
            <a:normAutofit/>
          </a:bodyPr>
          <a:lstStyle/>
          <a:p>
            <a:r>
              <a:rPr lang="en-US" sz="2400" b="1" dirty="0"/>
              <a:t>Input:</a:t>
            </a:r>
            <a:r>
              <a:rPr lang="en-US" sz="2400" dirty="0"/>
              <a:t> Simple and flexible method to upload and process any audio file.</a:t>
            </a:r>
          </a:p>
          <a:p>
            <a:r>
              <a:rPr lang="en-US" sz="2400" b="1" dirty="0"/>
              <a:t>Preprocessing: </a:t>
            </a:r>
            <a:r>
              <a:rPr lang="en-US" sz="2400" dirty="0"/>
              <a:t>Standardizing audio </a:t>
            </a:r>
            <a:r>
              <a:rPr lang="en-US" sz="2400" dirty="0" smtClean="0"/>
              <a:t>to </a:t>
            </a:r>
            <a:r>
              <a:rPr lang="en-US" sz="2400" dirty="0"/>
              <a:t>16kHz improves accuracy and reduces noise.</a:t>
            </a:r>
          </a:p>
          <a:p>
            <a:r>
              <a:rPr lang="en-US" sz="2400" b="1" dirty="0"/>
              <a:t>Feature Extraction (MFCCs): </a:t>
            </a:r>
            <a:r>
              <a:rPr lang="en-US" sz="2400" dirty="0"/>
              <a:t>MFCCs capture key speech features essential for deepfake detection.</a:t>
            </a:r>
          </a:p>
          <a:p>
            <a:r>
              <a:rPr lang="en-US" sz="2400" b="1" dirty="0" smtClean="0"/>
              <a:t>Model </a:t>
            </a:r>
            <a:r>
              <a:rPr lang="en-US" sz="2400" b="1" dirty="0"/>
              <a:t>Training (LSTM): </a:t>
            </a:r>
            <a:r>
              <a:rPr lang="en-US" sz="2400" dirty="0"/>
              <a:t>LSTM effectively learns temporal patterns in audio, improving deepfake detection.</a:t>
            </a:r>
          </a:p>
          <a:p>
            <a:r>
              <a:rPr lang="en-US" sz="2400" b="1" dirty="0"/>
              <a:t>Output:</a:t>
            </a:r>
            <a:r>
              <a:rPr lang="en-US" sz="2400" dirty="0"/>
              <a:t> Gives clear and interpretable real/fake probability results</a:t>
            </a:r>
          </a:p>
        </p:txBody>
      </p:sp>
    </p:spTree>
    <p:extLst>
      <p:ext uri="{BB962C8B-B14F-4D97-AF65-F5344CB8AC3E}">
        <p14:creationId xmlns:p14="http://schemas.microsoft.com/office/powerpoint/2010/main" val="149026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0C0388-D32E-D4AA-CBE0-947F8FFBE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30B12229-EBE7-8FAA-1308-214D1016282C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BE33D0E4-9F01-0619-5633-71E4BD6902A2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FFA7807F-E4F3-604F-6183-058F438D1EBD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E7139E98-09FA-DF10-9A6F-5D316571F424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F570A8DB-2B88-9DCF-05CC-B9FD47BC3DB8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3DB6847A-5C08-F581-6C8A-0C6F36B22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B1101E3-D4FF-E5C0-C1D0-481ED5EE6A98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9666A56A-9AEF-2D2C-1CBD-BCD8AC58F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152400"/>
            <a:ext cx="8763000" cy="1143000"/>
          </a:xfrm>
        </p:spPr>
        <p:txBody>
          <a:bodyPr>
            <a:normAutofit/>
          </a:bodyPr>
          <a:lstStyle/>
          <a:p>
            <a:r>
              <a:rPr lang="en-IN" b="1" dirty="0"/>
              <a:t>PROJECT OBJECTIVES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13330CAD-5057-CD27-2DC1-8BB27839A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1865" y="1523998"/>
            <a:ext cx="8724135" cy="5334000"/>
          </a:xfrm>
        </p:spPr>
        <p:txBody>
          <a:bodyPr>
            <a:normAutofit/>
          </a:bodyPr>
          <a:lstStyle/>
          <a:p>
            <a:r>
              <a:rPr lang="en-IN" dirty="0"/>
              <a:t>Objective-1:</a:t>
            </a:r>
            <a:r>
              <a:rPr lang="en-US" dirty="0">
                <a:cs typeface="Times New Roman" panose="02020603050405020304" pitchFamily="18" charset="0"/>
              </a:rPr>
              <a:t>Detect and classify real vs fake audio.</a:t>
            </a:r>
          </a:p>
          <a:p>
            <a:endParaRPr lang="en-IN" dirty="0"/>
          </a:p>
          <a:p>
            <a:r>
              <a:rPr lang="en-IN" dirty="0"/>
              <a:t>Objective-2:</a:t>
            </a:r>
            <a:r>
              <a:rPr lang="en-US" dirty="0">
                <a:cs typeface="Times New Roman" panose="02020603050405020304" pitchFamily="18" charset="0"/>
              </a:rPr>
              <a:t>Evaluate performance and accuracy on audio.</a:t>
            </a:r>
          </a:p>
          <a:p>
            <a:endParaRPr lang="en-IN" dirty="0"/>
          </a:p>
          <a:p>
            <a:r>
              <a:rPr lang="en-IN" dirty="0"/>
              <a:t>Objective-3:</a:t>
            </a:r>
            <a:r>
              <a:rPr lang="en-US" dirty="0">
                <a:cs typeface="Times New Roman" panose="02020603050405020304" pitchFamily="18" charset="0"/>
              </a:rPr>
              <a:t>Develop an awareness tool for security and education.</a:t>
            </a:r>
          </a:p>
        </p:txBody>
      </p:sp>
    </p:spTree>
    <p:extLst>
      <p:ext uri="{BB962C8B-B14F-4D97-AF65-F5344CB8AC3E}">
        <p14:creationId xmlns:p14="http://schemas.microsoft.com/office/powerpoint/2010/main" val="3548136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7944DF7-A024-EF15-16E8-02D706FF7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849BFA6A-668B-9E28-3255-CB04782A2C2B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9A106D49-5AD7-6765-C16B-2664C1FCD38A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4B85E5C0-4277-248A-C110-D7FED7056937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F51DC0D3-9FF0-9403-42F4-AB48D0AC1BBD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26B9B8D8-E898-C03F-7197-C663B8537A82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773ED3B8-1F3A-4932-3C02-E3FC94CEE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C809DF0-F3D0-E73C-DD7C-A77256559A75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55C9DFA7-F132-D0E0-04EA-40D52779D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99" y="381000"/>
            <a:ext cx="8443337" cy="6172199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b="1" dirty="0"/>
              <a:t>5. </a:t>
            </a:r>
            <a:r>
              <a:rPr lang="en-IN" sz="5400" b="1" dirty="0"/>
              <a:t>REQUIREMENT SPECIFICATION</a:t>
            </a:r>
          </a:p>
        </p:txBody>
      </p:sp>
    </p:spTree>
    <p:extLst>
      <p:ext uri="{BB962C8B-B14F-4D97-AF65-F5344CB8AC3E}">
        <p14:creationId xmlns:p14="http://schemas.microsoft.com/office/powerpoint/2010/main" val="206252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6F53986-1103-D57B-4ACF-49A528546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89AF1CD6-F0E7-2F0A-7A3C-820C3BDB9174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6A54A9FF-D03B-5452-D30B-F9CBE4BAE5E6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5B5A0939-B0A1-1F1B-114E-FCBE30CF398B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5146FE4E-A8C1-44BC-0261-51EF732F934F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F69558AB-3F0B-08FC-C882-18D7FB2DEAAC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88194A2B-202A-4098-F24B-28A713722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8A08529-FFC6-EB59-F992-7107E6D3C1C0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D7EBB9CE-6718-BB01-B02A-8EA6F788C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95278"/>
            <a:ext cx="8915400" cy="1143000"/>
          </a:xfrm>
        </p:spPr>
        <p:txBody>
          <a:bodyPr>
            <a:normAutofit/>
          </a:bodyPr>
          <a:lstStyle/>
          <a:p>
            <a:r>
              <a:rPr lang="en-IN" b="1" dirty="0"/>
              <a:t>Requirement Specification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95A47FEB-79DC-2AF8-DE2F-38EF0BECA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6695" y="990600"/>
            <a:ext cx="8765691" cy="5715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Functional Requirements: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852D8206-99DB-1890-5239-A0FBFFA73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472630"/>
              </p:ext>
            </p:extLst>
          </p:nvPr>
        </p:nvGraphicFramePr>
        <p:xfrm>
          <a:off x="3099247" y="2514914"/>
          <a:ext cx="8125142" cy="259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543">
                  <a:extLst>
                    <a:ext uri="{9D8B030D-6E8A-4147-A177-3AD203B41FA5}">
                      <a16:colId xmlns:a16="http://schemas.microsoft.com/office/drawing/2014/main" xmlns="" val="3135023586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xmlns="" val="353716396"/>
                    </a:ext>
                  </a:extLst>
                </a:gridCol>
                <a:gridCol w="3606799">
                  <a:extLst>
                    <a:ext uri="{9D8B030D-6E8A-4147-A177-3AD203B41FA5}">
                      <a16:colId xmlns:a16="http://schemas.microsoft.com/office/drawing/2014/main" xmlns="" val="1373501961"/>
                    </a:ext>
                  </a:extLst>
                </a:gridCol>
              </a:tblGrid>
              <a:tr h="62881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Sl.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Functional Requirement 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359774"/>
                  </a:ext>
                </a:extLst>
              </a:tr>
              <a:tr h="48569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should take audio as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allow users to upload audio for analysis.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876890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should check whether the audio is real or fake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detect authenticity of the audio.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24705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should show result to the user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display the final prediction to the user.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819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234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F5F8490-CF54-4124-B200-34FA7AD13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68E0F64A-FC7C-05BA-F9E3-99319DC448A2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55C9DC8C-9C40-7629-ABD6-A78F549283AC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0233BACA-391C-C729-E0B9-D6E44D3978CC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497C4D24-C3B7-A6A5-EDE8-44E44AF50695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F1871DF4-5E74-6632-4613-DC091676F7AE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3BB4608B-4AC5-E3D5-B23A-8F1E32065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B01232D-4862-2AF5-0EC3-7E3D3E933A99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1558AE2B-6B9C-AF8D-7275-47C9CC697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52400"/>
            <a:ext cx="8915400" cy="1143000"/>
          </a:xfrm>
        </p:spPr>
        <p:txBody>
          <a:bodyPr>
            <a:normAutofit/>
          </a:bodyPr>
          <a:lstStyle/>
          <a:p>
            <a:r>
              <a:rPr lang="en-IN" b="1" dirty="0"/>
              <a:t>Requirement Specification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4BB4F6B1-D4A9-4DF8-8AAE-0CD2E6634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513" y="1295400"/>
            <a:ext cx="8790873" cy="54102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Non-Functional Requirements: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2FF4ABDF-E66D-10D2-CD4F-05A8E7041E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319463"/>
              </p:ext>
            </p:extLst>
          </p:nvPr>
        </p:nvGraphicFramePr>
        <p:xfrm>
          <a:off x="3071508" y="2499081"/>
          <a:ext cx="8127999" cy="3030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xmlns="" val="3135023586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xmlns="" val="353716396"/>
                    </a:ext>
                  </a:extLst>
                </a:gridCol>
                <a:gridCol w="3606799">
                  <a:extLst>
                    <a:ext uri="{9D8B030D-6E8A-4147-A177-3AD203B41FA5}">
                      <a16:colId xmlns:a16="http://schemas.microsoft.com/office/drawing/2014/main" xmlns="" val="1373501961"/>
                    </a:ext>
                  </a:extLst>
                </a:gridCol>
              </a:tblGrid>
              <a:tr h="83604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Sl.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Non-Functional Requirement 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359774"/>
                  </a:ext>
                </a:extLst>
              </a:tr>
              <a:tr h="48437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should give accurate results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ensure reliable and trustworthy predictions.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8768906"/>
                  </a:ext>
                </a:extLst>
              </a:tr>
              <a:tr h="48437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should work fast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Generate predictions without long delays.</a:t>
                      </a:r>
                    </a:p>
                    <a:p>
                      <a:r>
                        <a:rPr lang="en-US" dirty="0"/>
                        <a:t>Give users results in a short time</a:t>
                      </a:r>
                      <a:r>
                        <a:rPr lang="en-IN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2470570"/>
                  </a:ext>
                </a:extLst>
              </a:tr>
              <a:tr h="48437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should handle many users at once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support multiple users without slowdown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8195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058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FDC5056-FD6D-5E3E-E2A7-002B0225E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06CB0C5B-90CD-5D7D-9479-FCFDE1253FAB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C78FB8E2-9F44-3837-D7F2-C09E818DD2BF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E1B014FC-4606-1107-5C37-A2A3337DF0FB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B4FE0634-EA05-26BE-24C5-054F197794C1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C4BF1661-629A-9917-0D2F-3EA1BCE5DF01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7994CBEF-C985-A597-7F46-1E4C6D21A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07CA48B-8A25-CB8E-300C-3515E9BB01F3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9805FD0F-337D-3922-C340-AED86B530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5463" y="-318271"/>
            <a:ext cx="8915400" cy="1143000"/>
          </a:xfrm>
        </p:spPr>
        <p:txBody>
          <a:bodyPr>
            <a:normAutofit/>
          </a:bodyPr>
          <a:lstStyle/>
          <a:p>
            <a:r>
              <a:rPr lang="en-IN" b="1" dirty="0"/>
              <a:t>Requirement Specification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0F69F1AD-B423-353F-464E-54A246AA5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7301" y="533400"/>
            <a:ext cx="8790873" cy="55431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Software Requirements</a:t>
            </a:r>
            <a:r>
              <a:rPr lang="en-IN" dirty="0"/>
              <a:t>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D874E5FD-2718-C5C5-71E8-0E7166F9C5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426031"/>
              </p:ext>
            </p:extLst>
          </p:nvPr>
        </p:nvGraphicFramePr>
        <p:xfrm>
          <a:off x="2674530" y="1130854"/>
          <a:ext cx="8720298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47">
                  <a:extLst>
                    <a:ext uri="{9D8B030D-6E8A-4147-A177-3AD203B41FA5}">
                      <a16:colId xmlns:a16="http://schemas.microsoft.com/office/drawing/2014/main" xmlns="" val="3135023586"/>
                    </a:ext>
                  </a:extLst>
                </a:gridCol>
                <a:gridCol w="2775315">
                  <a:extLst>
                    <a:ext uri="{9D8B030D-6E8A-4147-A177-3AD203B41FA5}">
                      <a16:colId xmlns:a16="http://schemas.microsoft.com/office/drawing/2014/main" xmlns="" val="353716396"/>
                    </a:ext>
                  </a:extLst>
                </a:gridCol>
                <a:gridCol w="2680918">
                  <a:extLst>
                    <a:ext uri="{9D8B030D-6E8A-4147-A177-3AD203B41FA5}">
                      <a16:colId xmlns:a16="http://schemas.microsoft.com/office/drawing/2014/main" xmlns="" val="104317678"/>
                    </a:ext>
                  </a:extLst>
                </a:gridCol>
                <a:gridCol w="2680918">
                  <a:extLst>
                    <a:ext uri="{9D8B030D-6E8A-4147-A177-3AD203B41FA5}">
                      <a16:colId xmlns:a16="http://schemas.microsoft.com/office/drawing/2014/main" xmlns="" val="1373501961"/>
                    </a:ext>
                  </a:extLst>
                </a:gridCol>
              </a:tblGrid>
              <a:tr h="328528">
                <a:tc row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Sl. No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Software Requirement detail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65408094"/>
                  </a:ext>
                </a:extLst>
              </a:tr>
              <a:tr h="106771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Software Tool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Software class</a:t>
                      </a:r>
                    </a:p>
                    <a:p>
                      <a:pPr algn="ctr"/>
                      <a:r>
                        <a:rPr lang="en-IN" dirty="0"/>
                        <a:t>(frame work/ programming language/ database/front end technology or other tools)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Purpose</a:t>
                      </a:r>
                    </a:p>
                    <a:p>
                      <a:pPr algn="ctr"/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359774"/>
                  </a:ext>
                </a:extLst>
              </a:tr>
              <a:tr h="40416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programming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 write backend model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8768906"/>
                  </a:ext>
                </a:extLst>
              </a:tr>
              <a:tr h="57492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Flask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Web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run the server and handle requests.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2470570"/>
                  </a:ext>
                </a:extLst>
              </a:tr>
              <a:tr h="57492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PyTorch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Audio library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preprocess audio and extract features.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8195807"/>
                  </a:ext>
                </a:extLst>
              </a:tr>
              <a:tr h="57492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Front-end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build the webpage structure.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53203307"/>
                  </a:ext>
                </a:extLst>
              </a:tr>
              <a:tr h="32852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Styling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style the user interface.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55774897"/>
                  </a:ext>
                </a:extLst>
              </a:tr>
              <a:tr h="57492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JavaScript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Scripting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To add interactivity on the webpage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98985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2845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97F31FA-19F9-61DD-64FC-42A71553C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32E33B47-2E22-F7A5-FC3E-16C0D5A9FFD8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31516F54-AC83-3FA7-0CA2-4B3D58790489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B23BB264-7F5F-FB9D-18EF-23FAE7649E55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A966F84C-D34A-A22D-FE3D-CAC35FE94755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67FD3941-91D6-2248-89C7-4795869722AC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7CF28F7C-1359-936F-AB53-DE76FC98A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7BF5293-87A4-7364-EA6F-AEDE3A8C6188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2995236B-C82D-254E-BA6F-B1463B625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85947"/>
            <a:ext cx="8839200" cy="1143000"/>
          </a:xfrm>
        </p:spPr>
        <p:txBody>
          <a:bodyPr>
            <a:normAutofit/>
          </a:bodyPr>
          <a:lstStyle/>
          <a:p>
            <a:r>
              <a:rPr lang="en-IN" b="1" dirty="0"/>
              <a:t>Requirement Specification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1E36B516-B8D1-F70B-5002-142C4BD5A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3187" y="1371600"/>
            <a:ext cx="8839199" cy="5334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Hardware</a:t>
            </a:r>
            <a:r>
              <a:rPr lang="en-IN" dirty="0"/>
              <a:t> </a:t>
            </a:r>
            <a:r>
              <a:rPr lang="en-IN" b="1" dirty="0"/>
              <a:t>Requirements: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A78FEA08-1028-3C31-3006-AE6259A90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136208"/>
              </p:ext>
            </p:extLst>
          </p:nvPr>
        </p:nvGraphicFramePr>
        <p:xfrm>
          <a:off x="2621060" y="2057400"/>
          <a:ext cx="8790873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867">
                  <a:extLst>
                    <a:ext uri="{9D8B030D-6E8A-4147-A177-3AD203B41FA5}">
                      <a16:colId xmlns:a16="http://schemas.microsoft.com/office/drawing/2014/main" xmlns="" val="3135023586"/>
                    </a:ext>
                  </a:extLst>
                </a:gridCol>
                <a:gridCol w="2797778">
                  <a:extLst>
                    <a:ext uri="{9D8B030D-6E8A-4147-A177-3AD203B41FA5}">
                      <a16:colId xmlns:a16="http://schemas.microsoft.com/office/drawing/2014/main" xmlns="" val="353716396"/>
                    </a:ext>
                  </a:extLst>
                </a:gridCol>
                <a:gridCol w="2702614">
                  <a:extLst>
                    <a:ext uri="{9D8B030D-6E8A-4147-A177-3AD203B41FA5}">
                      <a16:colId xmlns:a16="http://schemas.microsoft.com/office/drawing/2014/main" xmlns="" val="104317678"/>
                    </a:ext>
                  </a:extLst>
                </a:gridCol>
                <a:gridCol w="2702614">
                  <a:extLst>
                    <a:ext uri="{9D8B030D-6E8A-4147-A177-3AD203B41FA5}">
                      <a16:colId xmlns:a16="http://schemas.microsoft.com/office/drawing/2014/main" xmlns="" val="1373501961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Sl. No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Hardware Requirement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65408094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Hardware device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Hardware device 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Purpose</a:t>
                      </a:r>
                    </a:p>
                    <a:p>
                      <a:pPr algn="ctr"/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35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Intel i5+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For smooth system performance.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8768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8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For handling processing tasks.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22470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Storage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For storing data and files.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8195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GPU (Optional)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CUDA-enabled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For faster model processing.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94613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5431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C0BD97D-5DDD-8B3E-8FE8-E4A7AB409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32F0A5F3-0A4F-40D0-3B4A-08E710C0A9D7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750C6099-01E8-E616-A3A3-98DB962955D2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77309E06-8477-CECF-C195-AE6BB4FE932B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05BD55BD-E62F-1250-0353-E45DDEA65C20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A40C306B-FF45-09E3-E08C-65F85E1A0432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A284EEF4-62A5-A9D0-4FE8-9CDA39A7B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28721F3-44E9-6442-1E76-19953A3884C4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3F15EA56-29FC-7ACD-3AB0-BD0B81559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99" y="381000"/>
            <a:ext cx="8443337" cy="6172199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b="1" dirty="0"/>
              <a:t>6. </a:t>
            </a:r>
            <a:r>
              <a:rPr lang="en-IN" sz="5400" b="1" dirty="0"/>
              <a:t>PROJECT DESIGN</a:t>
            </a:r>
          </a:p>
        </p:txBody>
      </p:sp>
    </p:spTree>
    <p:extLst>
      <p:ext uri="{BB962C8B-B14F-4D97-AF65-F5344CB8AC3E}">
        <p14:creationId xmlns:p14="http://schemas.microsoft.com/office/powerpoint/2010/main" val="24271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9A4F9C6-B4A2-78DB-EDFB-5C4A50F68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67F46711-8968-2F12-2C8F-7DC27E41DCCD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91F719F3-BEB6-FAB1-1B8A-3BEF2A5A4856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8DBA0EB8-63A0-E478-5958-985CE26F1F78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E7ED7E67-9FBF-8B21-27BA-C0E46D6A1855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56BD5753-8E63-37F9-3662-7B5E91AF3F52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000C7246-5C0F-2F62-498A-3ADA6B7DE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2D1552D-0CBE-F584-8B2E-B34E501A9578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79589A74-6FCE-6AD5-8F4E-2456D763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52400"/>
            <a:ext cx="8839200" cy="1143000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Details of Project Modules Identified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03D5835D-5861-5450-23E7-BEDC2F80B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7663" y="1524000"/>
            <a:ext cx="8766137" cy="5181600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D6F5E49C-7F62-3CFC-7FF9-EF05DAFF70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81070"/>
              </p:ext>
            </p:extLst>
          </p:nvPr>
        </p:nvGraphicFramePr>
        <p:xfrm>
          <a:off x="2500306" y="1402078"/>
          <a:ext cx="886778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694">
                  <a:extLst>
                    <a:ext uri="{9D8B030D-6E8A-4147-A177-3AD203B41FA5}">
                      <a16:colId xmlns:a16="http://schemas.microsoft.com/office/drawing/2014/main" xmlns="" val="426260294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3556121171"/>
                    </a:ext>
                  </a:extLst>
                </a:gridCol>
                <a:gridCol w="2216947">
                  <a:extLst>
                    <a:ext uri="{9D8B030D-6E8A-4147-A177-3AD203B41FA5}">
                      <a16:colId xmlns:a16="http://schemas.microsoft.com/office/drawing/2014/main" xmlns="" val="1405827662"/>
                    </a:ext>
                  </a:extLst>
                </a:gridCol>
                <a:gridCol w="2216947">
                  <a:extLst>
                    <a:ext uri="{9D8B030D-6E8A-4147-A177-3AD203B41FA5}">
                      <a16:colId xmlns:a16="http://schemas.microsoft.com/office/drawing/2014/main" xmlns="" val="2223955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Project Module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Project Module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Functional Requirement 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Project Objective Achieved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0952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Input &amp; Preprocessing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Uploads audio and converts to mono/16kHz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Prepares clean audio for analysis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76778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Feature Extraction &amp; LSTM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Extracts MFCCs and detects real/fake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Performs accurate deepfake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13137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Result 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Shows final prediction to user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Provide clear output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89628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528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A10797B-7E2F-AE26-8984-2DF162A35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93CAD38F-1E73-E4E9-52DC-3360F3F7004D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966E30D5-F918-7A5E-24E3-53480FCE3E2C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4C93E391-9E3F-BCB2-48DF-BB9A4E5215C3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B07132B8-C6E1-1EEB-AA26-F7A99C8C890D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29137D31-A538-A51A-88B4-7C185D793370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F730FDFD-DCB8-7EE6-1CBC-DF947B305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76909EF-40E4-F366-6F97-6019B0601163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1EDE1748-471D-CAE7-5BB1-95EE827C0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52400"/>
            <a:ext cx="8839200" cy="1143000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PROJECT MODULE-1: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173B6078-8CE4-8D04-BFA3-8A6C1E2EE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6158" y="1143000"/>
            <a:ext cx="8766137" cy="5181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Functional Requirements :</a:t>
            </a:r>
          </a:p>
          <a:p>
            <a:r>
              <a:rPr lang="en-US" sz="1800" dirty="0"/>
              <a:t>Upload and validate audio file.</a:t>
            </a:r>
          </a:p>
          <a:p>
            <a:r>
              <a:rPr lang="en-US" sz="1800" dirty="0"/>
              <a:t>Convert audio to mono and 16kHz.</a:t>
            </a:r>
          </a:p>
          <a:p>
            <a:r>
              <a:rPr lang="en-US" sz="1800" dirty="0"/>
              <a:t>Normalize audio for model readiness.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Non-Functional Requirements :</a:t>
            </a:r>
          </a:p>
          <a:p>
            <a:r>
              <a:rPr lang="en-US" sz="1800" dirty="0"/>
              <a:t>Fast and efficient processing.</a:t>
            </a:r>
          </a:p>
          <a:p>
            <a:r>
              <a:rPr lang="en-US" sz="1800" dirty="0"/>
              <a:t>Reliable and accurate conversion.</a:t>
            </a:r>
          </a:p>
          <a:p>
            <a:r>
              <a:rPr lang="en-US" sz="1800" dirty="0"/>
              <a:t>Simple and user-friendly upload interface.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IN" sz="1800" b="1" dirty="0"/>
              <a:t>UML / Design :</a:t>
            </a:r>
          </a:p>
          <a:p>
            <a:r>
              <a:rPr lang="en-IN" sz="1800" dirty="0"/>
              <a:t>Use Case: User uploads audio → System preprocesses.</a:t>
            </a:r>
          </a:p>
          <a:p>
            <a:r>
              <a:rPr lang="en-IN" sz="1800" dirty="0"/>
              <a:t>Activity: Upload → Convert → Normalize.</a:t>
            </a:r>
          </a:p>
          <a:p>
            <a:r>
              <a:rPr lang="en-IN" sz="1800" dirty="0"/>
              <a:t>Sequence: User → Upload Module → Preprocessing Module.</a:t>
            </a:r>
          </a:p>
        </p:txBody>
      </p:sp>
    </p:spTree>
    <p:extLst>
      <p:ext uri="{BB962C8B-B14F-4D97-AF65-F5344CB8AC3E}">
        <p14:creationId xmlns:p14="http://schemas.microsoft.com/office/powerpoint/2010/main" val="388462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A10797B-7E2F-AE26-8984-2DF162A35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93CAD38F-1E73-E4E9-52DC-3360F3F7004D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966E30D5-F918-7A5E-24E3-53480FCE3E2C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4C93E391-9E3F-BCB2-48DF-BB9A4E5215C3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B07132B8-C6E1-1EEB-AA26-F7A99C8C890D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29137D31-A538-A51A-88B4-7C185D793370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F730FDFD-DCB8-7EE6-1CBC-DF947B305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76909EF-40E4-F366-6F97-6019B0601163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1EDE1748-471D-CAE7-5BB1-95EE827C0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52400"/>
            <a:ext cx="8839200" cy="1143000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PROJECT </a:t>
            </a:r>
            <a:r>
              <a:rPr lang="en-IN" b="1" dirty="0" smtClean="0"/>
              <a:t>MODULE-2:</a:t>
            </a:r>
            <a:endParaRPr lang="en-IN" b="1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173B6078-8CE4-8D04-BFA3-8A6C1E2EE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5791" y="1237534"/>
            <a:ext cx="8766137" cy="5181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800" b="1" dirty="0"/>
              <a:t>Module: Feature Extraction &amp; LSTM Model</a:t>
            </a:r>
          </a:p>
          <a:p>
            <a:pPr marL="0" indent="0">
              <a:buNone/>
            </a:pPr>
            <a:r>
              <a:rPr lang="en-IN" sz="1800" b="1" dirty="0"/>
              <a:t>Functional Requirements:</a:t>
            </a:r>
            <a:endParaRPr lang="en-IN" sz="1800" dirty="0"/>
          </a:p>
          <a:p>
            <a:r>
              <a:rPr lang="en-IN" sz="1800" dirty="0"/>
              <a:t>Extract MFCC features from </a:t>
            </a:r>
            <a:r>
              <a:rPr lang="en-IN" sz="1800" dirty="0" err="1"/>
              <a:t>preprocessed</a:t>
            </a:r>
            <a:r>
              <a:rPr lang="en-IN" sz="1800" dirty="0"/>
              <a:t> audio.</a:t>
            </a:r>
          </a:p>
          <a:p>
            <a:r>
              <a:rPr lang="en-IN" sz="1800" dirty="0"/>
              <a:t>Convert MFCC sequence into model-ready tensors.</a:t>
            </a:r>
          </a:p>
          <a:p>
            <a:r>
              <a:rPr lang="en-IN" sz="1800" dirty="0"/>
              <a:t>LSTM classifies audio as Real or Fake</a:t>
            </a:r>
            <a:r>
              <a:rPr lang="en-IN" sz="1800" dirty="0" smtClean="0"/>
              <a:t>.</a:t>
            </a:r>
          </a:p>
          <a:p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Non-Functional Requirements:</a:t>
            </a:r>
            <a:endParaRPr lang="en-IN" sz="1800" dirty="0"/>
          </a:p>
          <a:p>
            <a:r>
              <a:rPr lang="en-IN" sz="1800" dirty="0"/>
              <a:t>Efficient feature extraction (low latency).</a:t>
            </a:r>
          </a:p>
          <a:p>
            <a:r>
              <a:rPr lang="en-IN" sz="1800" dirty="0"/>
              <a:t>Stable model inference with consistent confidence scores.</a:t>
            </a:r>
          </a:p>
          <a:p>
            <a:r>
              <a:rPr lang="en-IN" sz="1800" dirty="0"/>
              <a:t>Memory-efficient processing for batch prediction</a:t>
            </a:r>
            <a:r>
              <a:rPr lang="en-IN" sz="1800" dirty="0" smtClean="0"/>
              <a:t>.</a:t>
            </a:r>
          </a:p>
          <a:p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UML / Design:</a:t>
            </a:r>
            <a:endParaRPr lang="en-IN" sz="1800" dirty="0"/>
          </a:p>
          <a:p>
            <a:r>
              <a:rPr lang="en-IN" sz="1800" dirty="0"/>
              <a:t>Use Case: </a:t>
            </a:r>
            <a:r>
              <a:rPr lang="en-IN" sz="1800" dirty="0" err="1"/>
              <a:t>Preprocessing</a:t>
            </a:r>
            <a:r>
              <a:rPr lang="en-IN" sz="1800" dirty="0"/>
              <a:t> → Feature Extraction → Model predicts.</a:t>
            </a:r>
          </a:p>
          <a:p>
            <a:r>
              <a:rPr lang="en-IN" sz="1800" dirty="0"/>
              <a:t>Activity: Extract MFCC → Create sequence → Predict label.</a:t>
            </a:r>
          </a:p>
          <a:p>
            <a:r>
              <a:rPr lang="en-IN" sz="1800" dirty="0"/>
              <a:t>Sequence: </a:t>
            </a:r>
            <a:r>
              <a:rPr lang="en-IN" sz="1800" dirty="0" err="1"/>
              <a:t>Preprocessing</a:t>
            </a:r>
            <a:r>
              <a:rPr lang="en-IN" sz="1800" dirty="0"/>
              <a:t> Module → Feature Extraction Module → LSTM Model → Output.</a:t>
            </a:r>
          </a:p>
        </p:txBody>
      </p:sp>
    </p:spTree>
    <p:extLst>
      <p:ext uri="{BB962C8B-B14F-4D97-AF65-F5344CB8AC3E}">
        <p14:creationId xmlns:p14="http://schemas.microsoft.com/office/powerpoint/2010/main" val="278320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A10797B-7E2F-AE26-8984-2DF162A35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93CAD38F-1E73-E4E9-52DC-3360F3F7004D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966E30D5-F918-7A5E-24E3-53480FCE3E2C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4C93E391-9E3F-BCB2-48DF-BB9A4E5215C3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B07132B8-C6E1-1EEB-AA26-F7A99C8C890D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29137D31-A538-A51A-88B4-7C185D793370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F730FDFD-DCB8-7EE6-1CBC-DF947B305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76909EF-40E4-F366-6F97-6019B0601163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1EDE1748-471D-CAE7-5BB1-95EE827C0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52400"/>
            <a:ext cx="8839200" cy="1143000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PROJECT </a:t>
            </a:r>
            <a:r>
              <a:rPr lang="en-IN" b="1" dirty="0" smtClean="0"/>
              <a:t>MODULE-3:</a:t>
            </a:r>
            <a:endParaRPr lang="en-IN" b="1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173B6078-8CE4-8D04-BFA3-8A6C1E2EE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131" y="1237534"/>
            <a:ext cx="8766137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Module: Result Display &amp; User Interface</a:t>
            </a:r>
          </a:p>
          <a:p>
            <a:pPr marL="0" indent="0">
              <a:buNone/>
            </a:pPr>
            <a:r>
              <a:rPr lang="en-IN" sz="1800" b="1" dirty="0"/>
              <a:t>Functional Requirements:</a:t>
            </a:r>
            <a:endParaRPr lang="en-IN" sz="1800" dirty="0"/>
          </a:p>
          <a:p>
            <a:r>
              <a:rPr lang="en-IN" sz="1800" dirty="0"/>
              <a:t>Display prediction (Real/Fake) and confidence score.</a:t>
            </a:r>
          </a:p>
          <a:p>
            <a:r>
              <a:rPr lang="en-IN" sz="1800" dirty="0"/>
              <a:t>Show MFCC and spectrogram images for proof.</a:t>
            </a:r>
          </a:p>
          <a:p>
            <a:r>
              <a:rPr lang="en-IN" sz="1800" dirty="0"/>
              <a:t>Allow user to download or save result/report.</a:t>
            </a:r>
          </a:p>
          <a:p>
            <a:pPr marL="0" indent="0">
              <a:buNone/>
            </a:pPr>
            <a:r>
              <a:rPr lang="en-IN" sz="1800" b="1" dirty="0"/>
              <a:t>Non-Functional Requirements:</a:t>
            </a:r>
            <a:endParaRPr lang="en-IN" sz="1800" dirty="0"/>
          </a:p>
          <a:p>
            <a:r>
              <a:rPr lang="en-IN" sz="1800" dirty="0"/>
              <a:t>Fast UI response and clear visualization.</a:t>
            </a:r>
          </a:p>
          <a:p>
            <a:r>
              <a:rPr lang="en-IN" sz="1800" dirty="0"/>
              <a:t>User-friendly, readable layout for graphs and text.</a:t>
            </a:r>
          </a:p>
          <a:p>
            <a:r>
              <a:rPr lang="en-IN" sz="1800" dirty="0"/>
              <a:t>Secure handling of uploaded files and results.</a:t>
            </a:r>
          </a:p>
          <a:p>
            <a:pPr marL="0" indent="0">
              <a:buNone/>
            </a:pPr>
            <a:r>
              <a:rPr lang="en-IN" sz="1800" b="1" dirty="0"/>
              <a:t>UML / Design:</a:t>
            </a:r>
            <a:endParaRPr lang="en-IN" sz="1800" dirty="0"/>
          </a:p>
          <a:p>
            <a:r>
              <a:rPr lang="en-IN" sz="1800" dirty="0"/>
              <a:t>Use Case: User requests analysis → System shows result and graphs.</a:t>
            </a:r>
          </a:p>
          <a:p>
            <a:r>
              <a:rPr lang="en-IN" sz="1800" dirty="0"/>
              <a:t>Activity: Receive model output → Render confidence + graphs → Save/Download.</a:t>
            </a:r>
          </a:p>
          <a:p>
            <a:r>
              <a:rPr lang="en-IN" sz="1800" dirty="0"/>
              <a:t>Sequence: LSTM Model → Result Display Module → User (view &amp; download).</a:t>
            </a:r>
          </a:p>
        </p:txBody>
      </p:sp>
    </p:spTree>
    <p:extLst>
      <p:ext uri="{BB962C8B-B14F-4D97-AF65-F5344CB8AC3E}">
        <p14:creationId xmlns:p14="http://schemas.microsoft.com/office/powerpoint/2010/main" val="6676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72C6815-6892-1984-5F5B-994C708D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926AE437-2FBA-9248-3BF9-C0C1B4253F9B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AB9F580B-C516-8A71-32CD-4306E1FD9CF9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C74F7509-F3E6-4863-2BDF-AD1D215FF8B0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54F64D1E-0CB6-10AD-B359-5B7369EEBBF9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AA3A64BC-52FA-FEA4-6216-001EBAE31685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D45A963F-12A1-0E3D-480F-507B44313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9B0B5F9-8870-A49A-F714-82FD71EAFBC9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ED0D3BCB-A23B-854B-E7F3-8B221BDE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360" y="-2"/>
            <a:ext cx="88392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UML DIAGRAMS OF PROJECT MODULE-1:</a:t>
            </a:r>
          </a:p>
        </p:txBody>
      </p:sp>
      <p:sp>
        <p:nvSpPr>
          <p:cNvPr id="9" name="Rectangle 8"/>
          <p:cNvSpPr/>
          <p:nvPr/>
        </p:nvSpPr>
        <p:spPr>
          <a:xfrm>
            <a:off x="5014912" y="6477000"/>
            <a:ext cx="990600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4800600" y="5715000"/>
            <a:ext cx="12954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315200" y="4648200"/>
            <a:ext cx="9144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762000"/>
            <a:ext cx="4724400" cy="6077321"/>
          </a:xfrm>
        </p:spPr>
      </p:pic>
    </p:spTree>
    <p:extLst>
      <p:ext uri="{BB962C8B-B14F-4D97-AF65-F5344CB8AC3E}">
        <p14:creationId xmlns:p14="http://schemas.microsoft.com/office/powerpoint/2010/main" val="2129234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DD562F-514F-6456-BFC4-8E89C475C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09774349-FC28-902F-C2FC-36C0450623BF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8CDB83D5-D86A-6B71-8CC7-C988FAE55593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F5BB007C-A50A-A1FC-6F65-ECCBC5219095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B3AC7F8B-49BF-2205-D3E7-2E34F6F73B06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5CECAFC2-DE7F-97BA-86AA-87677E9225BC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6516D1A9-82C1-7431-D601-881D7A18AB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DAA009D-FC13-6FB4-22E1-C2E3B52908E7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DF67E36A-5617-C6FE-6D92-11EBF6E0D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99" y="381000"/>
            <a:ext cx="8443337" cy="6172199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b="1" dirty="0"/>
              <a:t>7. </a:t>
            </a:r>
            <a:r>
              <a:rPr lang="en-IN" sz="5400" b="1" dirty="0"/>
              <a:t>PROJECT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686111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3B8D9D9-24F8-6C32-07A0-BE9F24CD6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554AA78F-C8FE-DC3E-764B-5B413832CA03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4FF07B01-C8B1-EA87-5006-3874680895ED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7B7FCCF8-3056-ECA8-4F95-BFF191043B6E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CF41A9C3-6CEA-E3BC-0B4B-DD478A4F8813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E2EB0C11-5418-9F96-3349-8D0F402EAB25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5497B26F-74B0-A981-0BB9-D0F5F5074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283F868-30A8-0A93-7700-DB42F8917D10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71909325-0521-4751-5DA5-B161E6F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52400"/>
            <a:ext cx="8839200" cy="1143000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Details of Project Modules Identified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B2257970-450C-126D-0117-1CBA86CAE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7663" y="1524000"/>
            <a:ext cx="8766137" cy="5181600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2D0E632B-6E1D-7325-27C1-66DDCDD20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057920"/>
              </p:ext>
            </p:extLst>
          </p:nvPr>
        </p:nvGraphicFramePr>
        <p:xfrm>
          <a:off x="2500306" y="1402078"/>
          <a:ext cx="886778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694">
                  <a:extLst>
                    <a:ext uri="{9D8B030D-6E8A-4147-A177-3AD203B41FA5}">
                      <a16:colId xmlns:a16="http://schemas.microsoft.com/office/drawing/2014/main" xmlns="" val="426260294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3556121171"/>
                    </a:ext>
                  </a:extLst>
                </a:gridCol>
                <a:gridCol w="2216947">
                  <a:extLst>
                    <a:ext uri="{9D8B030D-6E8A-4147-A177-3AD203B41FA5}">
                      <a16:colId xmlns:a16="http://schemas.microsoft.com/office/drawing/2014/main" xmlns="" val="1405827662"/>
                    </a:ext>
                  </a:extLst>
                </a:gridCol>
                <a:gridCol w="2216947">
                  <a:extLst>
                    <a:ext uri="{9D8B030D-6E8A-4147-A177-3AD203B41FA5}">
                      <a16:colId xmlns:a16="http://schemas.microsoft.com/office/drawing/2014/main" xmlns="" val="2223955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Project Module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Project Module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Functional Requirement 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Project Objective Achieved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0952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Input &amp; Preprocessing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Upload, validate, convert 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Prepare clean audio for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76778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Feature Extraction &amp; LSTM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Extract MFCCs and classify audio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Detect real vs fake audio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13137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Result Display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Show prediction to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Provide clear output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89628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3935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7F471A3-FCB3-0F00-77FC-7B3DF7EF3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DFA861D6-B4F7-2C4F-395A-52145750BF81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D3611754-B15F-2B78-D7E7-4210F192313E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E3F588FB-40CC-8AEC-5BBC-593D3E176373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DA6C05D3-6E68-1F21-0FDF-32240CB9109A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76361478-3A24-3C11-769C-9DC6234F5DA3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5E91FE20-7F11-F056-2428-9D48516B1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023001-4EB5-ED91-6421-36A6C06E8774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6DF0C00C-8425-0E7C-5B8C-E5FB5DDC5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52400"/>
            <a:ext cx="8839200" cy="1143000"/>
          </a:xfrm>
        </p:spPr>
        <p:txBody>
          <a:bodyPr>
            <a:noAutofit/>
          </a:bodyPr>
          <a:lstStyle/>
          <a:p>
            <a:r>
              <a:rPr lang="en-IN" sz="4000" b="1" dirty="0"/>
              <a:t>IMPLEMENTATION OF PROJECT MODULE-1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F003231F-DD88-7404-2072-C9F0DD844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659" y="1524000"/>
            <a:ext cx="8766137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Module: </a:t>
            </a:r>
            <a:r>
              <a:rPr lang="en-US" b="1" dirty="0"/>
              <a:t>Audio Input &amp; Preprocessing</a:t>
            </a:r>
            <a:endParaRPr lang="en-IN" b="1" dirty="0" smtClean="0"/>
          </a:p>
          <a:p>
            <a:pPr>
              <a:buNone/>
            </a:pPr>
            <a:r>
              <a:rPr lang="en-IN" b="1" dirty="0" smtClean="0"/>
              <a:t>Implementation </a:t>
            </a:r>
            <a:r>
              <a:rPr lang="en-IN" b="1" dirty="0"/>
              <a:t>Steps :</a:t>
            </a:r>
          </a:p>
          <a:p>
            <a:pPr>
              <a:buNone/>
            </a:pPr>
            <a:endParaRPr lang="en-IN" b="1" dirty="0"/>
          </a:p>
          <a:p>
            <a:r>
              <a:rPr lang="en-IN" sz="2400" dirty="0"/>
              <a:t>Created audio upload function to accept WAV files.</a:t>
            </a:r>
          </a:p>
          <a:p>
            <a:r>
              <a:rPr lang="en-IN" sz="2400" dirty="0"/>
              <a:t>Added file validation (size, format, duration).</a:t>
            </a:r>
          </a:p>
          <a:p>
            <a:r>
              <a:rPr lang="en-IN" sz="2400" dirty="0" smtClean="0"/>
              <a:t>Resampled </a:t>
            </a:r>
            <a:r>
              <a:rPr lang="en-IN" sz="2400" dirty="0"/>
              <a:t>audio to 16 kHz using </a:t>
            </a:r>
            <a:r>
              <a:rPr lang="en-IN" sz="2400" dirty="0" err="1"/>
              <a:t>Torchaudio</a:t>
            </a:r>
            <a:r>
              <a:rPr lang="en-IN" sz="2400" dirty="0"/>
              <a:t> transforms</a:t>
            </a:r>
            <a:r>
              <a:rPr lang="en-IN" sz="2400" dirty="0" smtClean="0"/>
              <a:t>.</a:t>
            </a:r>
          </a:p>
          <a:p>
            <a:r>
              <a:rPr lang="en-IN" sz="2400" dirty="0"/>
              <a:t>Loaded audio using </a:t>
            </a:r>
            <a:r>
              <a:rPr lang="en-IN" sz="2400" dirty="0" err="1"/>
              <a:t>Torchaudio</a:t>
            </a:r>
            <a:r>
              <a:rPr lang="en-IN" sz="2400" dirty="0"/>
              <a:t>.</a:t>
            </a:r>
          </a:p>
          <a:p>
            <a:r>
              <a:rPr lang="en-IN" sz="2400" dirty="0" smtClean="0"/>
              <a:t>Normalized </a:t>
            </a:r>
            <a:r>
              <a:rPr lang="en-IN" sz="2400" dirty="0"/>
              <a:t>audio amplitude before feature extraction.</a:t>
            </a:r>
          </a:p>
          <a:p>
            <a:r>
              <a:rPr lang="en-IN" sz="2400" dirty="0"/>
              <a:t>Returned clean, </a:t>
            </a:r>
            <a:r>
              <a:rPr lang="en-IN" sz="2400" dirty="0" err="1"/>
              <a:t>preprocessed</a:t>
            </a:r>
            <a:r>
              <a:rPr lang="en-IN" sz="2400" dirty="0"/>
              <a:t> audio for the next module.</a:t>
            </a:r>
          </a:p>
        </p:txBody>
      </p:sp>
    </p:spTree>
    <p:extLst>
      <p:ext uri="{BB962C8B-B14F-4D97-AF65-F5344CB8AC3E}">
        <p14:creationId xmlns:p14="http://schemas.microsoft.com/office/powerpoint/2010/main" val="224228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7F471A3-FCB3-0F00-77FC-7B3DF7EF3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DFA861D6-B4F7-2C4F-395A-52145750BF81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D3611754-B15F-2B78-D7E7-4210F192313E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E3F588FB-40CC-8AEC-5BBC-593D3E176373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DA6C05D3-6E68-1F21-0FDF-32240CB9109A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76361478-3A24-3C11-769C-9DC6234F5DA3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5E91FE20-7F11-F056-2428-9D48516B1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023001-4EB5-ED91-6421-36A6C06E8774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6DF0C00C-8425-0E7C-5B8C-E5FB5DDC5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52400"/>
            <a:ext cx="8839200" cy="1143000"/>
          </a:xfrm>
        </p:spPr>
        <p:txBody>
          <a:bodyPr>
            <a:noAutofit/>
          </a:bodyPr>
          <a:lstStyle/>
          <a:p>
            <a:r>
              <a:rPr lang="en-IN" sz="4000" b="1" dirty="0"/>
              <a:t>IMPLEMENTATION OF PROJECT </a:t>
            </a:r>
            <a:r>
              <a:rPr lang="en-IN" sz="4000" b="1" dirty="0" smtClean="0"/>
              <a:t>MODULE-2</a:t>
            </a:r>
            <a:endParaRPr lang="en-IN" sz="4000" b="1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F003231F-DD88-7404-2072-C9F0DD844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659" y="1524000"/>
            <a:ext cx="8766137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Module: Feature Extraction &amp; LSTM Model</a:t>
            </a:r>
          </a:p>
          <a:p>
            <a:pPr marL="0" indent="0">
              <a:buNone/>
            </a:pPr>
            <a:r>
              <a:rPr lang="en-IN" b="1" dirty="0"/>
              <a:t>Implementation Steps </a:t>
            </a:r>
            <a:r>
              <a:rPr lang="en-IN" b="1" dirty="0" smtClean="0"/>
              <a:t>: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IN" sz="2400" dirty="0"/>
              <a:t>Extracted MFCC features from </a:t>
            </a:r>
            <a:r>
              <a:rPr lang="en-IN" sz="2400" dirty="0" err="1"/>
              <a:t>preprocessed</a:t>
            </a:r>
            <a:r>
              <a:rPr lang="en-IN" sz="2400" dirty="0"/>
              <a:t> audio using </a:t>
            </a:r>
            <a:r>
              <a:rPr lang="en-IN" sz="2400" dirty="0" err="1"/>
              <a:t>Librosa</a:t>
            </a:r>
            <a:r>
              <a:rPr lang="en-IN" sz="2400" dirty="0"/>
              <a:t> / </a:t>
            </a:r>
            <a:r>
              <a:rPr lang="en-IN" sz="2400" dirty="0" err="1"/>
              <a:t>Torchaudio</a:t>
            </a:r>
            <a:r>
              <a:rPr lang="en-IN" sz="2400" dirty="0"/>
              <a:t>.</a:t>
            </a:r>
          </a:p>
          <a:p>
            <a:r>
              <a:rPr lang="en-IN" sz="2400" dirty="0"/>
              <a:t>Converted MFCCs into fixed-length sequences for LSTM input.</a:t>
            </a:r>
          </a:p>
          <a:p>
            <a:r>
              <a:rPr lang="en-IN" sz="2400" dirty="0"/>
              <a:t>Normalized MFCC values to stabilize training.</a:t>
            </a:r>
          </a:p>
          <a:p>
            <a:r>
              <a:rPr lang="en-IN" sz="2400" dirty="0"/>
              <a:t>Loaded trained LSTM model for classification.</a:t>
            </a:r>
          </a:p>
          <a:p>
            <a:r>
              <a:rPr lang="en-IN" sz="2400" dirty="0"/>
              <a:t>Passed MFCC sequence through LSTM to generate prediction.</a:t>
            </a:r>
          </a:p>
          <a:p>
            <a:r>
              <a:rPr lang="en-IN" sz="2400" dirty="0"/>
              <a:t>Obtained probability score (confidence value) for Real/Fake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009372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7F471A3-FCB3-0F00-77FC-7B3DF7EF3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DFA861D6-B4F7-2C4F-395A-52145750BF81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D3611754-B15F-2B78-D7E7-4210F192313E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E3F588FB-40CC-8AEC-5BBC-593D3E176373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DA6C05D3-6E68-1F21-0FDF-32240CB9109A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76361478-3A24-3C11-769C-9DC6234F5DA3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5E91FE20-7F11-F056-2428-9D48516B1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023001-4EB5-ED91-6421-36A6C06E8774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6DF0C00C-8425-0E7C-5B8C-E5FB5DDC5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52400"/>
            <a:ext cx="8839200" cy="1143000"/>
          </a:xfrm>
        </p:spPr>
        <p:txBody>
          <a:bodyPr>
            <a:noAutofit/>
          </a:bodyPr>
          <a:lstStyle/>
          <a:p>
            <a:r>
              <a:rPr lang="en-IN" sz="4000" b="1" dirty="0"/>
              <a:t>IMPLEMENTATION OF PROJECT </a:t>
            </a:r>
            <a:r>
              <a:rPr lang="en-IN" sz="4000" b="1" dirty="0" smtClean="0"/>
              <a:t>MODULE-3</a:t>
            </a:r>
            <a:endParaRPr lang="en-IN" sz="4000" b="1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F003231F-DD88-7404-2072-C9F0DD844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659" y="1524000"/>
            <a:ext cx="8766137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Module: Result Display &amp; User Interface</a:t>
            </a:r>
          </a:p>
          <a:p>
            <a:pPr marL="0" indent="0">
              <a:buNone/>
            </a:pPr>
            <a:r>
              <a:rPr lang="en-IN" b="1" dirty="0"/>
              <a:t>Implementation Steps </a:t>
            </a:r>
            <a:r>
              <a:rPr lang="en-IN" b="1" dirty="0" smtClean="0"/>
              <a:t>: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IN" sz="2400" dirty="0"/>
              <a:t>Displayed model’s output label (Real/Fake) on the webpage.</a:t>
            </a:r>
          </a:p>
          <a:p>
            <a:r>
              <a:rPr lang="en-IN" sz="2400" dirty="0"/>
              <a:t>Rendered confidence percentage returned by the LSTM model.</a:t>
            </a:r>
          </a:p>
          <a:p>
            <a:r>
              <a:rPr lang="en-IN" sz="2400" dirty="0"/>
              <a:t>Generated MFCC and Spectrogram images for visual proof.</a:t>
            </a:r>
          </a:p>
          <a:p>
            <a:r>
              <a:rPr lang="en-IN" sz="2400" dirty="0"/>
              <a:t>Integrated graphs into frontend using </a:t>
            </a:r>
            <a:r>
              <a:rPr lang="en-IN" sz="2400" dirty="0" err="1"/>
              <a:t>Matplotlib</a:t>
            </a:r>
            <a:r>
              <a:rPr lang="en-IN" sz="2400" dirty="0"/>
              <a:t> → saved → displayed.</a:t>
            </a:r>
          </a:p>
          <a:p>
            <a:r>
              <a:rPr lang="en-IN" sz="2400" dirty="0"/>
              <a:t>Designed a user-friendly UI using HTML, CSS, and JavaScript.</a:t>
            </a:r>
          </a:p>
          <a:p>
            <a:r>
              <a:rPr lang="en-IN" sz="2400" dirty="0"/>
              <a:t>Ensured smooth file upload, analysis request, and result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38865746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681F33B-2421-2CC1-180E-56396701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8A4860B6-0385-4CD9-6B54-5A31214BB854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461A7112-B23E-185A-56BA-4A5EE2906438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91950D8D-5F91-D9B4-FA8A-214F8FA57B24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2B2760BE-31A2-9E78-60C2-305062C9152F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168EF875-AB18-EE13-2940-9FC24727C5DA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46FDF8E6-5C93-CF3E-4A54-56E265FDA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31EE67E-E27E-1C78-8147-715A52EC8C1E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B8883954-0C9F-0212-3110-554587DBE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52400"/>
            <a:ext cx="8839200" cy="1143000"/>
          </a:xfrm>
        </p:spPr>
        <p:txBody>
          <a:bodyPr>
            <a:noAutofit/>
          </a:bodyPr>
          <a:lstStyle/>
          <a:p>
            <a:r>
              <a:rPr lang="en-IN" b="1" dirty="0"/>
              <a:t>PROJECT MODULE-1 CODE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xmlns="" id="{DC0A7546-3AE9-9E7B-244B-A370BBD74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328" y="1047034"/>
            <a:ext cx="7143672" cy="5562600"/>
          </a:xfrm>
        </p:spPr>
      </p:pic>
    </p:spTree>
    <p:extLst>
      <p:ext uri="{BB962C8B-B14F-4D97-AF65-F5344CB8AC3E}">
        <p14:creationId xmlns:p14="http://schemas.microsoft.com/office/powerpoint/2010/main" val="12541770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9D9A91A-2421-C540-B3CD-D0BDCC8A1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27563147-EF61-3636-5E52-6D860804F719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3563B6A4-D7CD-2152-7724-2036736E864E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035036C4-A3B4-C363-28D7-697FF78EFEE8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2C610A45-E59B-9983-8CC2-449EF6E28A0E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F62371FE-C102-0DC8-19AA-A28570BDD3B9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0D5F091F-DD7C-7D44-72D9-79E7DEDE4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5513694-38DC-619E-DDEA-45DE46C925B6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D71BDFFC-9754-0525-6E31-34BEDD915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5463" y="-304800"/>
            <a:ext cx="10515600" cy="1325563"/>
          </a:xfrm>
        </p:spPr>
        <p:txBody>
          <a:bodyPr>
            <a:noAutofit/>
          </a:bodyPr>
          <a:lstStyle/>
          <a:p>
            <a:r>
              <a:rPr lang="en-IN" b="1" dirty="0"/>
              <a:t>PROJECT MODULE-1 CODE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xmlns="" id="{592B4AC8-B675-F3A1-B84E-4EBAAD96A80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463" y="891378"/>
            <a:ext cx="5365037" cy="5509422"/>
          </a:xfr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xmlns="" id="{45B23170-B4B4-D16E-176A-14F5EEF556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5398" y="1523998"/>
            <a:ext cx="3536989" cy="3810000"/>
          </a:xfrm>
        </p:spPr>
      </p:pic>
    </p:spTree>
    <p:extLst>
      <p:ext uri="{BB962C8B-B14F-4D97-AF65-F5344CB8AC3E}">
        <p14:creationId xmlns:p14="http://schemas.microsoft.com/office/powerpoint/2010/main" val="3576711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A69F18-6803-6376-39D7-9FF1F42D7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0784" y="152401"/>
            <a:ext cx="8653015" cy="992189"/>
          </a:xfrm>
        </p:spPr>
        <p:txBody>
          <a:bodyPr/>
          <a:lstStyle/>
          <a:p>
            <a:r>
              <a:rPr lang="en-IN" b="1" dirty="0"/>
              <a:t>PROJECT MODULE-2 CODE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xmlns="" id="{278C3BBE-82A1-6B2F-CDE2-C8F8D91A019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463" y="943731"/>
            <a:ext cx="3694935" cy="3024023"/>
          </a:xfr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xmlns="" id="{58A4198B-0F62-E05E-F0B1-3289467139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741" y="1219200"/>
            <a:ext cx="5181600" cy="2719057"/>
          </a:xfrm>
        </p:spPr>
      </p:pic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602AC728-6399-AC24-3769-806C7098CC8A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grpSp>
        <p:nvGrpSpPr>
          <p:cNvPr id="6" name="Group 19">
            <a:extLst>
              <a:ext uri="{FF2B5EF4-FFF2-40B4-BE49-F238E27FC236}">
                <a16:creationId xmlns:a16="http://schemas.microsoft.com/office/drawing/2014/main" xmlns="" id="{AA29E0B0-1DED-7BBE-9991-20028731170D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7" name="Rectangle">
              <a:extLst>
                <a:ext uri="{FF2B5EF4-FFF2-40B4-BE49-F238E27FC236}">
                  <a16:creationId xmlns:a16="http://schemas.microsoft.com/office/drawing/2014/main" xmlns="" id="{6B17F08F-5730-8605-2530-66882678D92D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8" name="Rectangle">
              <a:extLst>
                <a:ext uri="{FF2B5EF4-FFF2-40B4-BE49-F238E27FC236}">
                  <a16:creationId xmlns:a16="http://schemas.microsoft.com/office/drawing/2014/main" xmlns="" id="{36FF5678-A200-6C3F-EA18-1CE525566ECC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xmlns="" id="{6A8F2493-445D-9B74-13BA-B0BAB7D71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0E56AFDC-7405-B3CA-F2DD-9AEEB3608D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512" y="3986542"/>
            <a:ext cx="7924087" cy="271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0406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BD4A409-2B34-DCD8-3803-800B2346B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4C6B8799-18D8-E80E-B875-6C897F766411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663D2D67-DED1-DF01-C4E2-44FC130B6378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9A890FD6-965A-BE9C-94BC-BBE43D401629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6A1D2259-E0D3-6A7C-BA19-BA332CD1430A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3180D5B8-F861-B304-5B81-66C0A0FDBA32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2332FA45-6D2A-ED7E-BB36-A070C2F81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88A1F2C-D129-51BE-A3BA-3C37D5015B85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266DF55B-8998-DD5A-2430-6C1C6B3BE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99" y="381000"/>
            <a:ext cx="8443337" cy="6172199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b="1" dirty="0"/>
              <a:t>8. </a:t>
            </a:r>
            <a:r>
              <a:rPr lang="en-IN" sz="5400" b="1" dirty="0"/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31080435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0FBD815-53B5-4A32-3C22-631F77439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E49C82C4-F891-7A98-504A-A93E6950D212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40E26603-C7D6-1388-A6DD-31FA68D37359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D202CC57-5903-C80D-167D-B610831AD10F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E15ABD1E-9FBA-A5EF-AE44-C33036B3DA92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2AAAF08C-42D1-FFDA-39B4-8FC11B1D6B5B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FA318DDF-28C9-D0D8-17E2-D262F8DD5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5CF83AB-2763-58C2-A5DD-9943D54DF403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D1F630D1-BA96-4338-C67C-8C17F0735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52400"/>
            <a:ext cx="8839200" cy="1143000"/>
          </a:xfrm>
        </p:spPr>
        <p:txBody>
          <a:bodyPr>
            <a:normAutofit/>
          </a:bodyPr>
          <a:lstStyle/>
          <a:p>
            <a:r>
              <a:rPr lang="en-IN" b="1" dirty="0"/>
              <a:t>PROJECT TESTING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1A8EDD32-A670-8A38-0179-2FAA5B913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9197" y="1052868"/>
            <a:ext cx="8766137" cy="534793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Objectives of testing:</a:t>
            </a:r>
          </a:p>
          <a:p>
            <a:r>
              <a:rPr lang="en-US" dirty="0"/>
              <a:t>Ensure accurate real/fake prediction.</a:t>
            </a:r>
          </a:p>
          <a:p>
            <a:r>
              <a:rPr lang="en-US" dirty="0"/>
              <a:t>Verify preprocessing works correctly.</a:t>
            </a:r>
          </a:p>
          <a:p>
            <a:r>
              <a:rPr lang="en-US" dirty="0"/>
              <a:t>System handles .wav audio formats.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Types of testing performed:</a:t>
            </a:r>
          </a:p>
          <a:p>
            <a:r>
              <a:rPr lang="en-IN" dirty="0"/>
              <a:t>Unit Testing – Checked each function (preprocessing, MFCC, model).</a:t>
            </a:r>
          </a:p>
          <a:p>
            <a:r>
              <a:rPr lang="en-IN" dirty="0"/>
              <a:t>Integration Testing – Verified upload → preprocess → model flow.</a:t>
            </a:r>
          </a:p>
          <a:p>
            <a:r>
              <a:rPr lang="en-IN" dirty="0"/>
              <a:t>Accuracy Testing – Measured model accuracy on test audio files.</a:t>
            </a:r>
          </a:p>
          <a:p>
            <a:r>
              <a:rPr lang="en-IN" dirty="0"/>
              <a:t>Performance Testing – Checked speed for different audio  lengths.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155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7C39411-A472-6054-0691-F168F16F1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74014992-9EF5-02F9-70E5-A8CC084B4C74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F5DD0594-BC89-5F9E-73F4-D77E2F1F598B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3A77C4C5-375A-EFFA-A2E3-43D5EB047010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697BD64E-5BB0-DB8D-6E06-E726C443DDAC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311A934D-B3C7-A71B-1CD5-8003FC0E4D5B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515EEAE7-65BE-C969-2DAB-0EA53AB2A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F347504-6370-5AE2-016D-6BCC4B80E1BF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41BEA88C-FB99-3BCF-C1A2-D3DDDE370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52400"/>
            <a:ext cx="8839200" cy="1143000"/>
          </a:xfrm>
        </p:spPr>
        <p:txBody>
          <a:bodyPr>
            <a:normAutofit/>
          </a:bodyPr>
          <a:lstStyle/>
          <a:p>
            <a:r>
              <a:rPr lang="en-IN" b="1" dirty="0"/>
              <a:t>PROJECT TESTING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8352A1D5-EB4A-36A9-5239-BA1FF3E3E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7815" y="1300065"/>
            <a:ext cx="8766137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Testing Tools/frameworks used: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932A7B8C-898F-1331-477C-F2B75072F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653736"/>
              </p:ext>
            </p:extLst>
          </p:nvPr>
        </p:nvGraphicFramePr>
        <p:xfrm>
          <a:off x="2949485" y="2114070"/>
          <a:ext cx="8127999" cy="3059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3165">
                  <a:extLst>
                    <a:ext uri="{9D8B030D-6E8A-4147-A177-3AD203B41FA5}">
                      <a16:colId xmlns:a16="http://schemas.microsoft.com/office/drawing/2014/main" xmlns="" val="1699745997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xmlns="" val="2511281741"/>
                    </a:ext>
                  </a:extLst>
                </a:gridCol>
                <a:gridCol w="2973834">
                  <a:extLst>
                    <a:ext uri="{9D8B030D-6E8A-4147-A177-3AD203B41FA5}">
                      <a16:colId xmlns:a16="http://schemas.microsoft.com/office/drawing/2014/main" xmlns="" val="758898475"/>
                    </a:ext>
                  </a:extLst>
                </a:gridCol>
              </a:tblGrid>
              <a:tr h="39950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Sl.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Testing tool/framework 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43966864"/>
                  </a:ext>
                </a:extLst>
              </a:tr>
              <a:tr h="6895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 err="1"/>
                        <a:t>PyTorch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to test model training, validation loss &amp; accuracy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63868876"/>
                  </a:ext>
                </a:extLst>
              </a:tr>
              <a:tr h="985072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dirty="0"/>
                        <a:t>MFCC (</a:t>
                      </a:r>
                      <a:r>
                        <a:rPr lang="en-IN" dirty="0" err="1"/>
                        <a:t>Torchaudio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to test audio preprocessing &amp; feature extraction quality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66122358"/>
                  </a:ext>
                </a:extLst>
              </a:tr>
              <a:tr h="985072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dirty="0"/>
                        <a:t>Flask Web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to test real-time prediction with uploaded audio files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78902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87768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905F4BF-02E7-18A2-AAF7-945518BB3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AFCF3471-1AF5-1FF5-5550-14EB2FFA72C8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9EFD9FF6-26E8-3EA9-B62B-C124FD1CB7BC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A57322E0-46F2-61D1-F290-9EAA8A3924C8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15E30DD1-758D-EF5F-F192-73807339AF13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DD6C2FD0-C546-30B2-ACC8-E54A7A60D233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0AFA57B6-E3A7-79E5-789D-EA44D5C37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2CD4347-7621-0511-7153-3D837CEC9DBA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A945F838-D005-280B-4085-AE740FA2E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52400"/>
            <a:ext cx="8839200" cy="990600"/>
          </a:xfrm>
        </p:spPr>
        <p:txBody>
          <a:bodyPr>
            <a:normAutofit/>
          </a:bodyPr>
          <a:lstStyle/>
          <a:p>
            <a:r>
              <a:rPr lang="en-IN" b="1" dirty="0"/>
              <a:t>PROJECT TESTING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8F46DBD6-73F1-AB08-C051-F11E0A327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8763" y="1338026"/>
            <a:ext cx="8766137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Details of Test cases and Results: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51ADD936-F0ED-01C9-D9FD-E1DD4181A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872173"/>
              </p:ext>
            </p:extLst>
          </p:nvPr>
        </p:nvGraphicFramePr>
        <p:xfrm>
          <a:off x="2883665" y="2136694"/>
          <a:ext cx="81280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xmlns="" val="78479009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27925062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36829674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350333152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2495409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 case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Actual output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16138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 audio sample (.wav)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Should classify as REAL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Classified as REAL (~88% confidence)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47435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Fake audio sample (.wav)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Should classify as FAKE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Classified as FAKE (~85% confidence)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03385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Unseen test 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 should predict correctly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Gave reliable Real/Fake prediction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35880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70356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B92FCC7-5731-0348-FD31-B185ED20F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10537E89-7075-3EA1-CA85-6DAEF1B18D4C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788498E1-904D-F9E5-064E-DE6948B96940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EE3B5427-547B-32B9-B39C-5D00B4DB1B74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4EE7A83A-B2E2-FC34-5BBF-47ADCA05EFF3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ABD4C4CB-377D-D8A6-9383-020CAA9787AB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3CB39538-D2E3-1A53-03F1-1520AF204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DCB12A3-8C5C-95AB-9DC0-2814708549C6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D3285B70-277E-BE87-C1BA-97C61E1DB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0915" y="-228600"/>
            <a:ext cx="8839200" cy="1143000"/>
          </a:xfrm>
        </p:spPr>
        <p:txBody>
          <a:bodyPr>
            <a:normAutofit/>
          </a:bodyPr>
          <a:lstStyle/>
          <a:p>
            <a:r>
              <a:rPr lang="en-IN" b="1" dirty="0"/>
              <a:t>PROJECT TESTING SCREEN SHOTS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E71AEA49-178F-C824-80DB-130935E78F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081" y="676467"/>
            <a:ext cx="3974242" cy="2743200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48D33512-718A-C735-C790-2703896CDC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602" y="676467"/>
            <a:ext cx="3974242" cy="27431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FAF2C505-6628-0EF3-A4A6-EFC9969D2D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6628" y="3643668"/>
            <a:ext cx="3946250" cy="304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B9036E9E-8BB5-9FB9-A3A9-EE34D0271C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043" y="3643668"/>
            <a:ext cx="3974243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2821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1A035FB-8348-A04E-B89D-9804D10B4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C07955B5-AD43-EF0D-113C-5CC5377B22EE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A077B42F-76E4-64A2-7759-D0459A9E7660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E04FE649-1BA1-342A-F350-39E1D35BA754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12B09D54-205C-DFF0-70D3-F7C7028D2BE0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9BD93366-49E8-0D22-351E-EDD69916E7A5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6D74A2E5-D68B-E5BA-6744-4908D5E2E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4D9A6FA-43F7-E091-DA4D-980264AEACD3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9440A489-98BB-4030-49FB-0DC9A1C3E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99" y="381000"/>
            <a:ext cx="8443337" cy="6172199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b="1" dirty="0"/>
              <a:t>9. </a:t>
            </a:r>
            <a:r>
              <a:rPr lang="en-IN" sz="5400" b="1" dirty="0"/>
              <a:t>RESULTS &amp; DISCUSSIONS</a:t>
            </a:r>
          </a:p>
        </p:txBody>
      </p:sp>
    </p:spTree>
    <p:extLst>
      <p:ext uri="{BB962C8B-B14F-4D97-AF65-F5344CB8AC3E}">
        <p14:creationId xmlns:p14="http://schemas.microsoft.com/office/powerpoint/2010/main" val="30542525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AD61140-664F-BA2D-172E-2E667ADC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8FF3AF4A-C7F8-2912-81E6-FD6606EBAA05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3B6DC27E-65DC-D6A7-536D-E57FE4CE04F7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FF1393C9-0F76-4D51-D661-EF23720ED507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C552396B-3AB1-4AAA-1BF5-26DB79F20514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CCB24A36-2CE7-F6CB-42F6-DB1FE9CE2474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C797BF04-1A0A-33E8-2119-3F98FD82E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730FCC1-2C9B-43E9-B28D-C2FE71B2FC5A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1BE1E6FA-054D-BF07-3BFD-C71DB089B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52400"/>
            <a:ext cx="8839200" cy="1143000"/>
          </a:xfrm>
        </p:spPr>
        <p:txBody>
          <a:bodyPr>
            <a:normAutofit/>
          </a:bodyPr>
          <a:lstStyle/>
          <a:p>
            <a:r>
              <a:rPr lang="en-IN" b="1" dirty="0"/>
              <a:t>RESULTS &amp; DISCUSSIONS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F68D8917-B694-04CB-AC41-B86A7DC7E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7663" y="1524000"/>
            <a:ext cx="8766137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Results overview:</a:t>
            </a:r>
          </a:p>
          <a:p>
            <a:pPr marL="541338" indent="-541338">
              <a:buFont typeface="Wingdings" panose="05000000000000000000" pitchFamily="2" charset="2"/>
              <a:buChar char="Ø"/>
            </a:pPr>
            <a:r>
              <a:rPr lang="en-IN" b="1" dirty="0"/>
              <a:t>Summary of achieved results:</a:t>
            </a:r>
          </a:p>
          <a:p>
            <a:r>
              <a:rPr lang="en-IN" dirty="0"/>
              <a:t>Achieved ~88% training accuracy after full training.</a:t>
            </a:r>
          </a:p>
          <a:p>
            <a:r>
              <a:rPr lang="en-IN" dirty="0"/>
              <a:t>Achieved ~85% validation accuracy with improved loss.</a:t>
            </a:r>
          </a:p>
          <a:p>
            <a:r>
              <a:rPr lang="en-IN" dirty="0"/>
              <a:t>Model showed reliable real-time prediction on unseen audio.</a:t>
            </a:r>
          </a:p>
          <a:p>
            <a:r>
              <a:rPr lang="en-IN" dirty="0"/>
              <a:t>Validation loss decreased from ~0.68 to ~0.55 across epochs.</a:t>
            </a:r>
          </a:p>
          <a:p>
            <a:r>
              <a:rPr lang="en-IN" dirty="0"/>
              <a:t>Successfully classified audio as Real / Fake through web interface.</a:t>
            </a:r>
          </a:p>
          <a:p>
            <a:pPr marL="541338" indent="-541338">
              <a:buFont typeface="Wingdings" panose="05000000000000000000" pitchFamily="2" charset="2"/>
              <a:buChar char="Ø"/>
            </a:pPr>
            <a:endParaRPr lang="en-IN" dirty="0"/>
          </a:p>
          <a:p>
            <a:pPr marL="541338" indent="-541338">
              <a:buFont typeface="Wingdings" panose="05000000000000000000" pitchFamily="2" charset="2"/>
              <a:buChar char="Ø"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7081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C656780-E078-589A-2BC4-AC5303404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ADA1824A-4947-8728-27FD-741573BE036F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11F1E8C7-5B3B-7C64-2EB9-8640698DED08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AD22A897-5C6C-277A-1563-77621CF7AEEE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F5B9CA35-4E40-98B5-5F5C-9F756DDA5458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B0515814-D36F-C7A5-75BB-58D0804E9ABA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BB4F7A47-2233-8466-70B5-D3486E3DC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ED64345-BBF9-F230-4574-42DCE014E32E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13521E1E-1E64-B76B-7353-E0DA2461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52400"/>
            <a:ext cx="8839200" cy="1143000"/>
          </a:xfrm>
        </p:spPr>
        <p:txBody>
          <a:bodyPr>
            <a:normAutofit/>
          </a:bodyPr>
          <a:lstStyle/>
          <a:p>
            <a:r>
              <a:rPr lang="en-IN" b="1" dirty="0"/>
              <a:t>RESULTS &amp; DISCUSSIONS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FD2CCC4-A2D1-702B-BDEA-95DC9BF52C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341" y="1295400"/>
            <a:ext cx="855369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4350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D2041F1-09FA-1CBA-6B3A-EF8794D5C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49D969C4-A758-1591-544F-DC73E64DE157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526FFDA6-56C8-BD2D-72F2-1A7AB7DC6630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74236A60-BC0D-928A-6C00-5AB470734F1E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83AD0ADF-6D22-7BD8-3766-98A70A46B94E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9462FCCE-BF8F-98BA-2C2E-77D4C2445511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568C5C2D-0FCF-BAFD-8CE1-0CBD57BFD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39BF74C-7DBC-A421-18C2-2F9DFFD43987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486A86AD-F27E-FDC2-9946-3F400176F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120" y="-132634"/>
            <a:ext cx="8839200" cy="1143000"/>
          </a:xfrm>
        </p:spPr>
        <p:txBody>
          <a:bodyPr>
            <a:normAutofit/>
          </a:bodyPr>
          <a:lstStyle/>
          <a:p>
            <a:r>
              <a:rPr lang="en-IN" b="1" dirty="0"/>
              <a:t>RESULTS &amp; DISCUSSIONS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6771B273-11E7-C2B4-F310-17F09C7D4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308" y="914400"/>
            <a:ext cx="8766137" cy="55626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Overview of outcome analysis:</a:t>
            </a:r>
          </a:p>
          <a:p>
            <a:r>
              <a:rPr lang="en-US" dirty="0"/>
              <a:t>Model achieved 85–90% accuracy after full training.</a:t>
            </a:r>
          </a:p>
          <a:p>
            <a:r>
              <a:rPr lang="en-US" dirty="0"/>
              <a:t>Validation loss consistently decreased from 0.68 → 0.55 across epochs.</a:t>
            </a:r>
          </a:p>
          <a:p>
            <a:r>
              <a:rPr lang="en-US" dirty="0"/>
              <a:t>Real-time prediction was reliable on unseen audio samples.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Comparison with existing systems:</a:t>
            </a:r>
          </a:p>
          <a:p>
            <a:r>
              <a:rPr lang="en-US" dirty="0"/>
              <a:t>Achieved higher accuracy than basic MFCC-only classifiers.</a:t>
            </a:r>
          </a:p>
          <a:p>
            <a:r>
              <a:rPr lang="en-US" dirty="0"/>
              <a:t>LSTM performed better than traditional ML models for sequential audio data.</a:t>
            </a:r>
          </a:p>
          <a:p>
            <a:r>
              <a:rPr lang="en-US" dirty="0"/>
              <a:t>Real-time Flask integration offers faster prediction compared to offline-only systems.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Limitations:</a:t>
            </a:r>
          </a:p>
          <a:p>
            <a:r>
              <a:rPr lang="en-IN" dirty="0"/>
              <a:t>Large dataset (7K+ real, 8K+ fake) required heavy computation.</a:t>
            </a:r>
          </a:p>
          <a:p>
            <a:r>
              <a:rPr lang="en-IN" dirty="0"/>
              <a:t>Training took long time due to 15 epochs and large audio files.</a:t>
            </a:r>
          </a:p>
          <a:p>
            <a:r>
              <a:rPr lang="en-IN" dirty="0"/>
              <a:t>Background noise affected MFCC values and reduced early accuracy.</a:t>
            </a:r>
          </a:p>
          <a:p>
            <a:r>
              <a:rPr lang="en-IN" dirty="0"/>
              <a:t>Initial epochs had low performance (~50% accuracy).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77773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661520C-00EE-D80A-E103-1BC5D5E62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FF9B62CC-FF88-590E-BBF0-8296C1BD6EDB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DBB6DA2E-B644-5A85-DC36-8377A3F3AAAC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EDCEC952-A690-8341-7B8C-2BCE089D3255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D508980A-284C-71FD-C2C3-EFC1C0658A1A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D82E59BF-8919-9162-4539-ABDAB53DB45F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0AAFA3C3-D793-6C78-1DDA-F240D5440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159B4F3-27B3-7798-2345-C10B42AA799D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AF8CBDB9-908A-578D-AB2C-9804D2BC0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99" y="381000"/>
            <a:ext cx="8443337" cy="6172199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b="1" dirty="0"/>
              <a:t>10. </a:t>
            </a:r>
            <a:r>
              <a:rPr lang="en-IN" sz="5400" b="1" dirty="0"/>
              <a:t>CONCLUSION &amp; FUTURE SCOPE</a:t>
            </a:r>
          </a:p>
        </p:txBody>
      </p:sp>
    </p:spTree>
    <p:extLst>
      <p:ext uri="{BB962C8B-B14F-4D97-AF65-F5344CB8AC3E}">
        <p14:creationId xmlns:p14="http://schemas.microsoft.com/office/powerpoint/2010/main" val="26643978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BFDB9F4-F76B-09CD-D9E1-9EAB0DE51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8D787E98-38B7-B096-4289-4772990BEE7C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DB9E9EEF-B665-7D59-8A7F-4D43B763AE5D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D67383C9-1984-B518-4752-9819EB3E63A2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47435CDB-FB2C-4C7E-B317-913FBE8F24B1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66344AA4-607D-929C-BE9C-AB001D6A8C89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1ABA49FC-84D0-9FD8-E03F-F1D6ED1D7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1AE475A-2230-F8C8-7407-1C35B8FC37C8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D2C68D71-5AD8-009D-8116-1D8BEFCF3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52400"/>
            <a:ext cx="8839200" cy="1143000"/>
          </a:xfrm>
        </p:spPr>
        <p:txBody>
          <a:bodyPr>
            <a:normAutofit/>
          </a:bodyPr>
          <a:lstStyle/>
          <a:p>
            <a:r>
              <a:rPr lang="en-IN" b="1" dirty="0"/>
              <a:t>CONCLUSION &amp; FUTURE SCOPE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361D67A7-1B76-38D2-4C16-CC991907B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2567" y="1143000"/>
            <a:ext cx="8766137" cy="55626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CONCLUSION:</a:t>
            </a:r>
          </a:p>
          <a:p>
            <a:r>
              <a:rPr lang="en-US" dirty="0"/>
              <a:t>Successfully built an LSTM-based system to classify audio as Real or Fake.</a:t>
            </a:r>
          </a:p>
          <a:p>
            <a:r>
              <a:rPr lang="en-US" dirty="0"/>
              <a:t>Achieved strong performance with 70–90% accuracy after full training.</a:t>
            </a:r>
          </a:p>
          <a:p>
            <a:r>
              <a:rPr lang="en-US" dirty="0"/>
              <a:t>Validation loss improved steadily (0.68 → 0.55), showing effective learning.</a:t>
            </a:r>
          </a:p>
          <a:p>
            <a:r>
              <a:rPr lang="en-US" dirty="0"/>
              <a:t>Real-time prediction worked reliably through the Flask web interface.</a:t>
            </a:r>
          </a:p>
          <a:p>
            <a:r>
              <a:rPr lang="en-US" dirty="0"/>
              <a:t>System helps combat voice spoofing, fraud, and misinformation.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b="1" dirty="0"/>
              <a:t>FUTURE SCOPE:</a:t>
            </a:r>
          </a:p>
          <a:p>
            <a:r>
              <a:rPr lang="en-US" dirty="0"/>
              <a:t>Add CNN + LSTM hybrid models for improved accuracy.</a:t>
            </a:r>
          </a:p>
          <a:p>
            <a:r>
              <a:rPr lang="en-US" dirty="0"/>
              <a:t>Include spectrogram-based features for richer audio learning.</a:t>
            </a:r>
          </a:p>
          <a:p>
            <a:r>
              <a:rPr lang="en-US" dirty="0"/>
              <a:t>Integrate noise filtering to improve performance in noisy environments.</a:t>
            </a:r>
          </a:p>
          <a:p>
            <a:r>
              <a:rPr lang="en-US" dirty="0"/>
              <a:t>Expand dataset to support multiple languages &amp; accents.</a:t>
            </a:r>
          </a:p>
          <a:p>
            <a:r>
              <a:rPr lang="en-US" dirty="0" smtClean="0"/>
              <a:t>Extend </a:t>
            </a:r>
            <a:r>
              <a:rPr lang="en-US" dirty="0"/>
              <a:t>detection to video deepfakes (audio + visual analysis).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1000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FCEB0A6-6797-1999-EC6D-2739DE155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2AD7B1A9-D817-F282-B54F-752300B833C0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7FFA7D4E-A12F-82D2-F582-C40C2B916E7F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5CD4BAF6-4105-26D4-BE01-5FE82EB93882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64F345C9-3211-108F-5CD9-B1CFCD88709A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8998B591-BFD2-B7C3-2702-8C5BFB9264B4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8C731777-3377-2B30-B8E7-DE13B8131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F8BBFA5-89FF-C5F1-B13E-958FF5DF17FF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60F9BCC5-88D9-C99E-57BC-AAAE0397A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99" y="381000"/>
            <a:ext cx="8443337" cy="6172199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b="1" dirty="0"/>
              <a:t>11. </a:t>
            </a:r>
            <a:r>
              <a:rPr lang="en-IN" sz="5400" b="1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9499404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A6D6DD7-57E3-4675-E5B8-D4E3AF2D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DAC79E61-F9CC-FF82-85B0-352182452126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FCC53827-4C02-3584-2B36-6B7AF1B0B66A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46967D98-74F5-64A9-77F4-EC957428E219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C6AAE9FA-269A-97F0-5D43-A985E8913A64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21C6F822-5C0C-D44B-6135-A292F158A0E2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CDFBEEA4-1FA8-CC12-9CC5-1C1FEE967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4EE6A6D-AF2C-47A2-CFF6-483470985059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xmlns="" id="{92CB8BE3-D75D-1AF7-191A-96CE9A3CE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152400"/>
            <a:ext cx="8915399" cy="1143000"/>
          </a:xfrm>
        </p:spPr>
        <p:txBody>
          <a:bodyPr>
            <a:noAutofit/>
          </a:bodyPr>
          <a:lstStyle/>
          <a:p>
            <a:r>
              <a:rPr lang="en-IN" b="1" dirty="0"/>
              <a:t>REFERENCES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ABC2049E-42A8-3116-397F-8ADB71FB6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9292" y="1406482"/>
            <a:ext cx="8870923" cy="4045031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IN" dirty="0"/>
              <a:t>[1] H. Tak, J. Patino, A. Nautsch, N. Evans, and J. Yamagishi, "End-to-end detection of spoofed speech using spectrogram features and CNNs," IEEE/ACM Transactions on Audio, Speech, and Language Processing, vol. 30, pp. 1671–1684, 2022.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dirty="0"/>
              <a:t>[2] P. Wang, X. Zhang, and Y. Liu, "Detection of AI-synthesized speech using deep learning," in Proc. </a:t>
            </a:r>
            <a:r>
              <a:rPr lang="en-IN" dirty="0" err="1"/>
              <a:t>Interspeech</a:t>
            </a:r>
            <a:r>
              <a:rPr lang="en-IN" dirty="0"/>
              <a:t>, Dublin, Ireland, 2023, pp. 421–425.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dirty="0"/>
              <a:t>[3] S. Mittal and A. Singh, "A hybrid deep learning framework for detecting voice spoofing attacks," Expert Systems with Applications, vol. 223, pp. 119–128, 2023.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dirty="0"/>
              <a:t>[4] J. Chen, Z. Wu, and H. Li, "Adversarial training for robust spoof speech detection," in Proc. IEEE International Conference on Acoustics, Speech, and Signal Processing (ICASSP), Seoul, South Korea, 2024, pp. 321–325. 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dirty="0"/>
              <a:t>[5] R. Kumar and P. Sharma, "Deepfake audio detection using multi-feature fusion," Neural Computing and Applications, vol. 36, no. 12, pp. 15567–15579, 2024.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dirty="0"/>
              <a:t>[6] "</a:t>
            </a:r>
            <a:r>
              <a:rPr lang="en-IN" dirty="0" err="1"/>
              <a:t>ASVspoof</a:t>
            </a:r>
            <a:r>
              <a:rPr lang="en-IN" dirty="0"/>
              <a:t> Dataset," </a:t>
            </a:r>
            <a:r>
              <a:rPr lang="en-IN" dirty="0" err="1"/>
              <a:t>ASVspoof</a:t>
            </a:r>
            <a:r>
              <a:rPr lang="en-IN" dirty="0"/>
              <a:t>. [Online]. Available: http://www.asvspoof.org. [Accessed: Sept. 5, 2025]. [7] "Mozilla Common Voice," Mozilla. [Online]. Available: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3111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BF65FA-2985-A4E3-02CD-E300512F6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xmlns="" id="{858D91CB-4E9F-940B-7117-11FE52E9DE88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xmlns="" id="{8D7EFC0C-0A0F-46A8-3135-2BE1C0B6FB67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xmlns="" id="{D764280C-B67F-B5CC-0DAA-C3B32F6B0A07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>
              <a:extLst>
                <a:ext uri="{FF2B5EF4-FFF2-40B4-BE49-F238E27FC236}">
                  <a16:creationId xmlns:a16="http://schemas.microsoft.com/office/drawing/2014/main" xmlns="" id="{428FAA4F-9547-7130-A2E2-C5F605E904C2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xmlns="" id="{6E87BAF4-4853-6850-6DD2-7D67074B67A7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>
              <a:extLst>
                <a:ext uri="{FF2B5EF4-FFF2-40B4-BE49-F238E27FC236}">
                  <a16:creationId xmlns:a16="http://schemas.microsoft.com/office/drawing/2014/main" xmlns="" id="{9BFCDDD5-E6C6-C6C9-820A-E3BD75632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E12D9CB-0850-1DF1-8938-4CE4CFBE10A1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CSE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xmlns="" id="{32F7A844-0E7E-A40A-213A-649B81A78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99" y="381000"/>
            <a:ext cx="8443337" cy="6172199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2A80BB4-3FF2-49F5-5562-1DA3ED7C5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9413" y="228600"/>
            <a:ext cx="8722973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43608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1700</TotalTime>
  <Words>2551</Words>
  <Application>Microsoft Office PowerPoint</Application>
  <PresentationFormat>Widescreen</PresentationFormat>
  <Paragraphs>640</Paragraphs>
  <Slides>47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47</vt:i4>
      </vt:variant>
    </vt:vector>
  </HeadingPairs>
  <TitlesOfParts>
    <vt:vector size="58" baseType="lpstr">
      <vt:lpstr>Arial</vt:lpstr>
      <vt:lpstr>Calibri</vt:lpstr>
      <vt:lpstr>Calibri Light</vt:lpstr>
      <vt:lpstr>Futura Cyrillic Book</vt:lpstr>
      <vt:lpstr>Graphik</vt:lpstr>
      <vt:lpstr>Times New Roman</vt:lpstr>
      <vt:lpstr>Wingdings</vt:lpstr>
      <vt:lpstr>1_Custom Design</vt:lpstr>
      <vt:lpstr>Custom Design</vt:lpstr>
      <vt:lpstr>2_Custom Design</vt:lpstr>
      <vt:lpstr>3_Custom Design</vt:lpstr>
      <vt:lpstr>PowerPoint Presentation</vt:lpstr>
      <vt:lpstr>CONTENTS/AGENDA</vt:lpstr>
      <vt:lpstr>PowerPoint Presentation</vt:lpstr>
      <vt:lpstr>INTRODUCTION</vt:lpstr>
      <vt:lpstr>PowerPoint Presentation</vt:lpstr>
      <vt:lpstr>LITERATURE SURVEY</vt:lpstr>
      <vt:lpstr>LITERATURE SURVEY</vt:lpstr>
      <vt:lpstr>PowerPoint Presentation</vt:lpstr>
      <vt:lpstr>PROBLEM STATEMENT </vt:lpstr>
      <vt:lpstr>PowerPoint Presentation</vt:lpstr>
      <vt:lpstr>PROPOSED METHODOLOGY</vt:lpstr>
      <vt:lpstr>BLOCK DIAGRAM OF PROPOSED METHODOLOGY</vt:lpstr>
      <vt:lpstr>PROPOSED METHODOLOGY</vt:lpstr>
      <vt:lpstr>PROJECT OBJECTIVES</vt:lpstr>
      <vt:lpstr>PowerPoint Presentation</vt:lpstr>
      <vt:lpstr>Requirement Specification</vt:lpstr>
      <vt:lpstr>Requirement Specification</vt:lpstr>
      <vt:lpstr>Requirement Specification</vt:lpstr>
      <vt:lpstr>Requirement Specification</vt:lpstr>
      <vt:lpstr>PowerPoint Presentation</vt:lpstr>
      <vt:lpstr>Details of Project Modules Identified</vt:lpstr>
      <vt:lpstr>PROJECT MODULE-1:</vt:lpstr>
      <vt:lpstr>PROJECT MODULE-2:</vt:lpstr>
      <vt:lpstr>PROJECT MODULE-3:</vt:lpstr>
      <vt:lpstr>UML DIAGRAMS OF PROJECT MODULE-1:</vt:lpstr>
      <vt:lpstr>PowerPoint Presentation</vt:lpstr>
      <vt:lpstr>Details of Project Modules Identified</vt:lpstr>
      <vt:lpstr>IMPLEMENTATION OF PROJECT MODULE-1</vt:lpstr>
      <vt:lpstr>IMPLEMENTATION OF PROJECT MODULE-2</vt:lpstr>
      <vt:lpstr>IMPLEMENTATION OF PROJECT MODULE-3</vt:lpstr>
      <vt:lpstr>PROJECT MODULE-1 CODE</vt:lpstr>
      <vt:lpstr>PROJECT MODULE-1 CODE</vt:lpstr>
      <vt:lpstr>PROJECT MODULE-2 CODE </vt:lpstr>
      <vt:lpstr>PowerPoint Presentation</vt:lpstr>
      <vt:lpstr>PROJECT TESTING</vt:lpstr>
      <vt:lpstr>PROJECT TESTING</vt:lpstr>
      <vt:lpstr>PROJECT TESTING</vt:lpstr>
      <vt:lpstr>PROJECT TESTING SCREEN SHOTS</vt:lpstr>
      <vt:lpstr>PowerPoint Presentation</vt:lpstr>
      <vt:lpstr>RESULTS &amp; DISCUSSIONS</vt:lpstr>
      <vt:lpstr>RESULTS &amp; DISCUSSIONS</vt:lpstr>
      <vt:lpstr>RESULTS &amp; DISCUSSIONS</vt:lpstr>
      <vt:lpstr>PowerPoint Presentation</vt:lpstr>
      <vt:lpstr>CONCLUSION &amp; FUTURE SCOPE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Principal aip</dc:creator>
  <cp:lastModifiedBy>HP</cp:lastModifiedBy>
  <cp:revision>284</cp:revision>
  <dcterms:created xsi:type="dcterms:W3CDTF">2021-09-07T04:22:00Z</dcterms:created>
  <dcterms:modified xsi:type="dcterms:W3CDTF">2025-11-21T04:58:50Z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0398283ACE364599A240D38F3F474187_13</vt:lpwstr>
  </property>
  <property fmtid="{D5CDD505-2E9C-101B-9397-08002B2CF9AE}" pid="3" name="KSOProductBuildVer">
    <vt:lpwstr>1033-12.2.0.13489</vt:lpwstr>
  </property>
</Properties>
</file>